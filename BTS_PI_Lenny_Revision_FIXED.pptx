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61120" y="-1097280"/>
            <a:ext cx="4572000" cy="4572000"/>
          </a:xfrm>
          <a:prstGeom prst="ellipse">
            <a:avLst/>
          </a:prstGeom>
          <a:solidFill>
            <a:srgbClr val="1A4A8A">
              <a:alpha val="30000"/>
            </a:srgbClr>
          </a:solidFill>
          <a:ln w="12700">
            <a:solidFill>
              <a:srgbClr val="1A4A8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4114800"/>
            <a:ext cx="2743200" cy="274320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BTS PROFESSIONS IMMOBILIÈRES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FICHES DE RÉVISION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Modules 1 à 11 — Conduite de projet Immo Vente / Location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899B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Lenny AGAMAKOU  •  INSEEC BTS 2025-2026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029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Accueil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0" y="5029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5029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Entreprises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12080" y="5029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5029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Prospection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5029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5029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Ratios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784080" y="502920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0" y="5029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Diagnostics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562356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623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Estimation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562356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5623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6bis Viager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562356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5623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Mandats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0" y="5623560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A4A8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5623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Financement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Accueil &amp; Découverte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règle des 4×20 • SONCAS • Écoute active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Règle des 4×20 &amp; Communication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6012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60120"/>
            <a:ext cx="5303520" cy="34747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9601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premières SECONDES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362456"/>
            <a:ext cx="50840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Tenue soignée, comportement mesuré — la première impression ne se refait pas 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96012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960120"/>
            <a:ext cx="53035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9601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premiers GESTES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27648" y="1362456"/>
            <a:ext cx="50840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Bras ouverts, attitude disponible, gestes en harmonie avec votre discours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88036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880360"/>
            <a:ext cx="53035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803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premiers MOTS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3282696"/>
            <a:ext cx="50840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Saluer, se présenter, voix claire. Préparez vos phrases d'accroche !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88036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2880360"/>
            <a:ext cx="5303520" cy="34747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8803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cm du VISAGE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27648" y="3282696"/>
            <a:ext cx="50840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Sourire franc, regard soutenu = attentif et bienveillant envers le client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881360" cy="438912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937760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⚠  Vous n'avez qu'une seule occasion de faire une bonne première impression — préparez-vous avant chaque RDV 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86383"/>
            <a:ext cx="1371600" cy="615067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86383"/>
            <a:ext cx="1371600" cy="615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8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3468"/>
            <a:ext cx="9601200" cy="6150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68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SONCAS(E) &amp; Types de Questions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872302"/>
            <a:ext cx="502920" cy="495471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872302"/>
            <a:ext cx="50292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2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70432" y="872302"/>
            <a:ext cx="2011680" cy="49547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872302"/>
            <a:ext cx="192024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8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18688" y="872302"/>
            <a:ext cx="3108960" cy="495471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872302"/>
            <a:ext cx="301752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4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Garanties, stabilité, rassurer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1436114"/>
            <a:ext cx="502920" cy="49547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436114"/>
            <a:ext cx="50292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2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70432" y="1436114"/>
            <a:ext cx="2011680" cy="49547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1436114"/>
            <a:ext cx="192024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8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Orgueil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18688" y="1436114"/>
            <a:ext cx="3108960" cy="495471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436114"/>
            <a:ext cx="301752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4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Valoriser, statut, prestige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1999925"/>
            <a:ext cx="502920" cy="49547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1999925"/>
            <a:ext cx="50292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2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70432" y="1999925"/>
            <a:ext cx="2011680" cy="49547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07008" y="1999925"/>
            <a:ext cx="192024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8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Nouveauté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18688" y="1999925"/>
            <a:ext cx="3108960" cy="495471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1999925"/>
            <a:ext cx="301752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4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Innovation, moderne, dernier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2563737"/>
            <a:ext cx="502920" cy="495471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563737"/>
            <a:ext cx="50292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2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C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170432" y="2563737"/>
            <a:ext cx="2011680" cy="49547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07008" y="2563737"/>
            <a:ext cx="192024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8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Confort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18688" y="2563737"/>
            <a:ext cx="3108960" cy="495471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563737"/>
            <a:ext cx="301752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4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Facilité, praticité, bien-être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127549"/>
            <a:ext cx="502920" cy="495471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127549"/>
            <a:ext cx="50292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2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170432" y="3127549"/>
            <a:ext cx="2011680" cy="49547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07008" y="3127549"/>
            <a:ext cx="192024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8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Argent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18688" y="3127549"/>
            <a:ext cx="3108960" cy="495471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127549"/>
            <a:ext cx="301752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4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Économie, rentabilité, ROI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" y="3691360"/>
            <a:ext cx="502920" cy="495471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691360"/>
            <a:ext cx="50292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2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170432" y="3691360"/>
            <a:ext cx="2011680" cy="49547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07008" y="3691360"/>
            <a:ext cx="192024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8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Sympathie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18688" y="3691360"/>
            <a:ext cx="3108960" cy="495471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691360"/>
            <a:ext cx="301752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4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Relation, confiance, feeling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4255172"/>
            <a:ext cx="502920" cy="49547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255172"/>
            <a:ext cx="50292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2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170432" y="4255172"/>
            <a:ext cx="2011680" cy="49547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07008" y="4255172"/>
            <a:ext cx="192024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8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Écologie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18688" y="4255172"/>
            <a:ext cx="3108960" cy="495471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4255172"/>
            <a:ext cx="3017520" cy="495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4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DPE, éco-responsable, énergie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" y="821046"/>
            <a:ext cx="5715000" cy="427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14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SONCAS(E)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858000" y="821046"/>
            <a:ext cx="5029200" cy="4271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14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Types de Questions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858000" y="1316517"/>
            <a:ext cx="5120640" cy="580897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58000" y="1316517"/>
            <a:ext cx="1280160" cy="580897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1316517"/>
            <a:ext cx="1280160" cy="580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4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Ouverte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183880" y="1342145"/>
            <a:ext cx="1645920" cy="2733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4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Engage à l'expression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183880" y="1615508"/>
            <a:ext cx="3749040" cy="239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1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Comment puis-je vous aider ?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58000" y="1982840"/>
            <a:ext cx="5120640" cy="580897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858000" y="1982840"/>
            <a:ext cx="1280160" cy="580897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0" y="1982840"/>
            <a:ext cx="1280160" cy="580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4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Fermée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183880" y="2008468"/>
            <a:ext cx="1645920" cy="2733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4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OUI / NON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183880" y="2281831"/>
            <a:ext cx="3749040" cy="239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1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Avez-vous déjà visité ?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858000" y="2649163"/>
            <a:ext cx="5120640" cy="580897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858000" y="2649163"/>
            <a:ext cx="1280160" cy="580897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0" y="2649163"/>
            <a:ext cx="1280160" cy="580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4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Approfond.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183880" y="2674791"/>
            <a:ext cx="1645920" cy="2733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4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Obtenir des précisions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183880" y="2948154"/>
            <a:ext cx="3749040" cy="239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1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Pouvez-vous préciser ?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858000" y="3315486"/>
            <a:ext cx="5120640" cy="580897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858000" y="3315486"/>
            <a:ext cx="1280160" cy="580897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58000" y="3315486"/>
            <a:ext cx="1280160" cy="580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4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Miroir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8183880" y="3341114"/>
            <a:ext cx="1645920" cy="2733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4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Développer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183880" y="3614477"/>
            <a:ext cx="3749040" cy="239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1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Trop de travaux… ?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858000" y="3981809"/>
            <a:ext cx="5120640" cy="580897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858000" y="3981809"/>
            <a:ext cx="1280160" cy="580897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58000" y="3981809"/>
            <a:ext cx="1280160" cy="580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4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Inductive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183880" y="4007437"/>
            <a:ext cx="1645920" cy="2733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4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Influence la réponse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183880" y="4280800"/>
            <a:ext cx="3749040" cy="239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1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Aurez-vous le temps ?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40080" y="4801898"/>
            <a:ext cx="5715000" cy="119596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777240" y="4844611"/>
            <a:ext cx="5486400" cy="2989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8" b="1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DIVAS — Accueil téléphonique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777240" y="5169230"/>
            <a:ext cx="5486400" cy="170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4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 — Débit adapté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77240" y="5331540"/>
            <a:ext cx="5486400" cy="170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4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 — Intonation bienveillante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777240" y="5493849"/>
            <a:ext cx="5486400" cy="170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4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 — Volume mesuré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777240" y="5656159"/>
            <a:ext cx="5486400" cy="170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4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— Articuler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777240" y="5818468"/>
            <a:ext cx="5486400" cy="1708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4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 — Sourire (ça s'entend !)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Entreprises &amp; Statuts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Formes juridiques • Loi Hoguet • ALUR • ELAN • Statuts conseiller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Formes Juridiques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14400"/>
            <a:ext cx="3611880" cy="5029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914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148132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Responsabilité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16916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Illimitée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19202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Fiscalité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214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IR (BIC/BNC)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377440"/>
            <a:ext cx="36118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3774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5D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Simple mais risqué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91440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914400"/>
            <a:ext cx="36118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914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EIRL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26280" y="148132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Responsabilité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26280" y="16916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Limitée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26280" y="19202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Fiscalité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26280" y="21214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IR (opt. IS)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2377440"/>
            <a:ext cx="36118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23774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Protège patrimoine perso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0" y="91440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914400"/>
            <a:ext cx="3611880" cy="5029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914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EURL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21040" y="148132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Responsabilité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321040" y="16916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Limitée aux apports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192024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Fiscalité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321040" y="21214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IR (opt. IS)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2377440"/>
            <a:ext cx="36118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237744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4A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SARL à 1 associé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29260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2926080"/>
            <a:ext cx="36118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29260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SASU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31520" y="34930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Responsabilité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" y="37033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Limitée aux apports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" y="39319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Fiscalité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" y="413308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(opt. IR 5 ans)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4389120"/>
            <a:ext cx="36118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43891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D94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Président = assimilé salarié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434840" y="29260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434840" y="2926080"/>
            <a:ext cx="3611880" cy="5029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26280" y="29260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SARL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4526280" y="34930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Responsabilité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26280" y="37033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Limitée aux apports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26280" y="39319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Fiscalité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26280" y="413308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(opt. IR famille)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434840" y="4389120"/>
            <a:ext cx="36118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26280" y="43891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A0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Gérant majoritaire = TNS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229600" y="29260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229600" y="2926080"/>
            <a:ext cx="3611880" cy="5029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21040" y="29260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SAS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8321040" y="349300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Responsabilité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321040" y="37033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Limitée aux apports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321040" y="3931920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Fiscalité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321040" y="4133088"/>
            <a:ext cx="3429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(opt. IR)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229600" y="4389120"/>
            <a:ext cx="3611880" cy="34747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21040" y="43891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4A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Grande flexibilité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40080" y="5029200"/>
            <a:ext cx="10881360" cy="438912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1520" y="5029200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⚠  SA : capital min. 37 000 € • SCOP : salariés associés majoritaires (1 personne = 1 voix) • GIE : mutualisation entre pros, responsabilité solidaire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Lois Fondamentales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36118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14400"/>
            <a:ext cx="361188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914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LOI HOGUET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9144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1970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49808" y="1600200"/>
            <a:ext cx="73152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57276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Carte pro obligatoire : T, G, 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2221992"/>
            <a:ext cx="73152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19456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Mandat ÉCRIT obligatoire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" y="2843784"/>
            <a:ext cx="73152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816352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Garantie financière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9808" y="3465576"/>
            <a:ext cx="73152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438144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Reçu pour toute somme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" y="4087368"/>
            <a:ext cx="73152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059936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Tarifs affichés TTC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9808" y="4709160"/>
            <a:ext cx="73152" cy="3200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68172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Registre des mandats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5074920"/>
            <a:ext cx="3429000" cy="896112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20640"/>
            <a:ext cx="33375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00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🚨 Sans mandat conforme = ZÉRO honoraire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914400"/>
            <a:ext cx="36118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34840" y="914400"/>
            <a:ext cx="361188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914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LOI ALUR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78040" y="9144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2014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4544568" y="1600200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90872" y="157276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Encadrement des loyers (zones tendues)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44568" y="2221992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90872" y="219456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Bail type + état des lieux standardisé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44568" y="2843784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2816352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42h de formation/3 ans obligatoires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44568" y="3465576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0872" y="3438144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Encadrement syndics + transparence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44568" y="4087368"/>
            <a:ext cx="73152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90872" y="4059936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Rénovation énergétique renforcée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229600" y="914400"/>
            <a:ext cx="36118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229600" y="914400"/>
            <a:ext cx="3611880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1040" y="914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LOI ELAN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972800" y="91440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2018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8339328" y="1600200"/>
            <a:ext cx="7315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157276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Bail mobilité : 1 à 10 mois, sans dépôt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339328" y="2221992"/>
            <a:ext cx="7315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85632" y="219456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Simplification urbanisme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339328" y="2843784"/>
            <a:ext cx="7315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85632" y="2816352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Encadrement Airbnb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339328" y="3465576"/>
            <a:ext cx="7315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85632" y="3438144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Vente HLM facilitée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339328" y="4087368"/>
            <a:ext cx="73152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85632" y="4059936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Bail numérique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89423"/>
            <a:ext cx="1371600" cy="60511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89423"/>
            <a:ext cx="1371600" cy="60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1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6232"/>
            <a:ext cx="9601200" cy="605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38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Statuts du Conseiller Immobilier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862629"/>
            <a:ext cx="3611880" cy="453838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862629"/>
            <a:ext cx="3611880" cy="630331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879438"/>
            <a:ext cx="3383280" cy="378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5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AGENT COMMERCIAL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266041"/>
            <a:ext cx="3383280" cy="218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9" i="1" dirty="0">
                <a:solidFill>
                  <a:srgbClr val="D0E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Mandataire indépendant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9808" y="1669452"/>
            <a:ext cx="137160" cy="126066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577004"/>
            <a:ext cx="3200400" cy="378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Inscrit au RSAC (pas de contrat travail)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9808" y="2131695"/>
            <a:ext cx="137160" cy="126066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039246"/>
            <a:ext cx="3200400" cy="378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Rémunération UNIQUEMENT à la commission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" y="2593938"/>
            <a:ext cx="137160" cy="126066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2501489"/>
            <a:ext cx="3200400" cy="378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TNS — cotisations indépendant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089798"/>
            <a:ext cx="3429000" cy="252132"/>
          </a:xfrm>
          <a:prstGeom prst="rect">
            <a:avLst/>
          </a:prstGeom>
          <a:solidFill>
            <a:srgbClr val="E85D75">
              <a:alpha val="80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089798"/>
            <a:ext cx="3337560" cy="252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19" b="1" dirty="0">
                <a:solidFill>
                  <a:srgbClr val="E85D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INTERDICTIONS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383952"/>
            <a:ext cx="3383280" cy="319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19" dirty="0">
                <a:solidFill>
                  <a:srgbClr val="C03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  Rédiger un compromis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736938"/>
            <a:ext cx="3383280" cy="319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19" dirty="0">
                <a:solidFill>
                  <a:srgbClr val="C03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  Encaisser des fonds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089923"/>
            <a:ext cx="3383280" cy="319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19" dirty="0">
                <a:solidFill>
                  <a:srgbClr val="C039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  Donner des conseils juridiques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862629"/>
            <a:ext cx="3611880" cy="453838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434840" y="862629"/>
            <a:ext cx="3611880" cy="63033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44568" y="879438"/>
            <a:ext cx="3383280" cy="378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5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SALARIÉ D'AGENCE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44568" y="1266041"/>
            <a:ext cx="3383280" cy="218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9" i="1" dirty="0">
                <a:solidFill>
                  <a:srgbClr val="D0E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Contrat de travail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44568" y="1669452"/>
            <a:ext cx="137160" cy="12606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1577004"/>
            <a:ext cx="3200400" cy="378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Protection sociale complète + chômage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44568" y="2131695"/>
            <a:ext cx="137160" cy="12606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27448" y="2039246"/>
            <a:ext cx="3200400" cy="378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Fixe + commissions ou mixte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44568" y="2593938"/>
            <a:ext cx="137160" cy="12606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2501489"/>
            <a:ext cx="3200400" cy="378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 de clientèle propre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29600" y="862629"/>
            <a:ext cx="3611880" cy="453838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29600" y="862629"/>
            <a:ext cx="3611880" cy="630331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9328" y="879438"/>
            <a:ext cx="3383280" cy="378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95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VRP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39328" y="1266041"/>
            <a:ext cx="3383280" cy="218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9" i="1" dirty="0">
                <a:solidFill>
                  <a:srgbClr val="D0E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Voyageur Représentant Placier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339328" y="1669452"/>
            <a:ext cx="137160" cy="12606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22208" y="1577004"/>
            <a:ext cx="3200400" cy="378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Payé à la commission (min. garanti possible)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339328" y="2131695"/>
            <a:ext cx="137160" cy="12606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22208" y="2039246"/>
            <a:ext cx="3200400" cy="378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Représente 1 ou plusieurs employeurs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339328" y="2593938"/>
            <a:ext cx="137160" cy="12606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22208" y="2501489"/>
            <a:ext cx="3200400" cy="378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5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Statut salarié avec spécificités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5527077"/>
            <a:ext cx="10881360" cy="462243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" y="5527077"/>
            <a:ext cx="10607040" cy="462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5" dirty="0">
                <a:solidFill>
                  <a:srgbClr val="E8A0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AMANDA (ex-AMEPI) : réseau de mandats exclusifs entre agences — accélère les ventes et évite la concurrence directe entre adhérents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La Prospection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Zones • Méthodes • Techniques • Méthode SMART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85536"/>
            <a:ext cx="1371600" cy="61783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85536"/>
            <a:ext cx="1371600" cy="617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2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2698"/>
            <a:ext cx="9601200" cy="617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77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Organisation &amp; Zones de Prospection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874996"/>
            <a:ext cx="5029200" cy="34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MÉTHODE SMART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304050"/>
            <a:ext cx="502920" cy="583514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04050"/>
            <a:ext cx="502920" cy="5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7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170432" y="1304050"/>
            <a:ext cx="4754880" cy="58351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338374"/>
            <a:ext cx="2011680" cy="274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2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Spécifique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1612969"/>
            <a:ext cx="4572000" cy="240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objectif précis et défini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1990536"/>
            <a:ext cx="502920" cy="58351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990536"/>
            <a:ext cx="502920" cy="5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7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70432" y="1990536"/>
            <a:ext cx="4754880" cy="58351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2024861"/>
            <a:ext cx="2011680" cy="274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2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Mesurable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299455"/>
            <a:ext cx="4572000" cy="240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 critères quantifiables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677023"/>
            <a:ext cx="502920" cy="58351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677023"/>
            <a:ext cx="502920" cy="5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7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A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170432" y="2677023"/>
            <a:ext cx="4754880" cy="58351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2711347"/>
            <a:ext cx="2011680" cy="274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2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Atteignable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34440" y="2985942"/>
            <a:ext cx="4572000" cy="240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Réaliste par rapport aux moyens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363509"/>
            <a:ext cx="502920" cy="58351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363509"/>
            <a:ext cx="502920" cy="5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7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R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170432" y="3363509"/>
            <a:ext cx="4754880" cy="58351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3397834"/>
            <a:ext cx="2011680" cy="274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2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Réaliste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34440" y="3672428"/>
            <a:ext cx="4572000" cy="240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lien avec les ressources dispo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4049996"/>
            <a:ext cx="502920" cy="583514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049996"/>
            <a:ext cx="502920" cy="5835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7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170432" y="4049996"/>
            <a:ext cx="4754880" cy="58351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34440" y="4084320"/>
            <a:ext cx="2011680" cy="2745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2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Temporel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34440" y="4358915"/>
            <a:ext cx="4572000" cy="240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deadline précise définie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874996"/>
            <a:ext cx="5120640" cy="34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ZONES DE SECTEUR (Îlotage)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498080" y="2144996"/>
            <a:ext cx="4023360" cy="2265405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2505401"/>
            <a:ext cx="2743200" cy="1544595"/>
          </a:xfrm>
          <a:prstGeom prst="ellipse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95360" y="2762834"/>
            <a:ext cx="1828800" cy="1029730"/>
          </a:xfrm>
          <a:prstGeom prst="ellipse">
            <a:avLst/>
          </a:prstGeom>
          <a:solidFill>
            <a:srgbClr val="7C3AED">
              <a:alpha val="5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52560" y="3020266"/>
            <a:ext cx="914400" cy="5148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80%</a:t>
            </a:r>
            <a:endParaRPr lang="en-US" sz="900" dirty="0"/>
          </a:p>
          <a:p>
            <a:pPr algn="ctr" indent="0" marL="0">
              <a:buNone/>
            </a:pPr>
            <a:r>
              <a:rPr lang="en-US" sz="84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Primaire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858000" y="1904725"/>
            <a:ext cx="164592" cy="429054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86600" y="1904725"/>
            <a:ext cx="4846320" cy="240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2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ZONE PRIMAIRE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86600" y="2162158"/>
            <a:ext cx="4846320" cy="214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Quelques mètres — présence maximale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1155680" y="1904725"/>
            <a:ext cx="822960" cy="429054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155680" y="1904725"/>
            <a:ext cx="822960" cy="429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2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80% CA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0" y="3020266"/>
            <a:ext cx="164592" cy="42905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86600" y="3020266"/>
            <a:ext cx="4846320" cy="240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2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ZONE SECONDAIRE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086600" y="3277698"/>
            <a:ext cx="4846320" cy="214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+1 km — présence régulière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1155680" y="3020266"/>
            <a:ext cx="822960" cy="42905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155680" y="3020266"/>
            <a:ext cx="822960" cy="429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2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15% CA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858000" y="4135806"/>
            <a:ext cx="164592" cy="42905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86600" y="4135806"/>
            <a:ext cx="4846320" cy="2402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2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ZONE TERTIAIRE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086600" y="4393239"/>
            <a:ext cx="4846320" cy="214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Au-delà — présence ponctuelle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1155680" y="4135806"/>
            <a:ext cx="822960" cy="42905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155680" y="4135806"/>
            <a:ext cx="822960" cy="429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2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5% CA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858000" y="5165536"/>
            <a:ext cx="5120640" cy="34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2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îlot = 2h à 3h max de prospection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" y="4908104"/>
            <a:ext cx="5852160" cy="128716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777240" y="4951009"/>
            <a:ext cx="5577840" cy="3260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26" b="1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Objectifs de la prospection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77240" y="5294252"/>
            <a:ext cx="5577840" cy="214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Être connu et reconnu sur son secteur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77240" y="5534523"/>
            <a:ext cx="5577840" cy="214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Détecter des besoins, qualifier les prospects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77240" y="5774793"/>
            <a:ext cx="5577840" cy="2145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8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Rentrer des mandats et générer du CA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94706"/>
            <a:ext cx="1371600" cy="587829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94706"/>
            <a:ext cx="1371600" cy="587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2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1034"/>
            <a:ext cx="9601200" cy="5878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86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Méthodes &amp; Techniques de Prospection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845820"/>
            <a:ext cx="5303520" cy="2163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845820"/>
            <a:ext cx="5303520" cy="424543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845820"/>
            <a:ext cx="507492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9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📌  STATIQUE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1319349"/>
            <a:ext cx="5074920" cy="408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Contacts provoqués par la publicité (passif)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1850027"/>
            <a:ext cx="128016" cy="114300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760220"/>
            <a:ext cx="4754880" cy="310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Vitrine agence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217420"/>
            <a:ext cx="128016" cy="114300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127613"/>
            <a:ext cx="4754880" cy="310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Panneaux vendus/loués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2584813"/>
            <a:ext cx="128016" cy="114300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495006"/>
            <a:ext cx="4754880" cy="310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Affiches, réseaux sociaux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845820"/>
            <a:ext cx="5303520" cy="2163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845820"/>
            <a:ext cx="5303520" cy="424543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845820"/>
            <a:ext cx="507492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9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🚀  DYNAMIQUE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27648" y="1319349"/>
            <a:ext cx="5074920" cy="408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Contacts générés par l'implication du négociateur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1850027"/>
            <a:ext cx="128016" cy="1143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760220"/>
            <a:ext cx="4754880" cy="310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Porte-à-porte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2217420"/>
            <a:ext cx="128016" cy="1143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127613"/>
            <a:ext cx="4754880" cy="310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Phoning / Pige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2584813"/>
            <a:ext cx="128016" cy="1143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495006"/>
            <a:ext cx="4754880" cy="310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Boîtage / flyers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3172641"/>
            <a:ext cx="5303520" cy="2163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3172641"/>
            <a:ext cx="5303520" cy="424543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3172641"/>
            <a:ext cx="507492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9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📋  PROSPECTIVE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9808" y="3646170"/>
            <a:ext cx="5074920" cy="408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Contacts via base de données constituée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4176849"/>
            <a:ext cx="128016" cy="1143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087041"/>
            <a:ext cx="4754880" cy="310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Anciens clients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" y="4544241"/>
            <a:ext cx="128016" cy="1143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4454434"/>
            <a:ext cx="4754880" cy="310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Fichier propriétaires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" y="4911634"/>
            <a:ext cx="128016" cy="1143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4821827"/>
            <a:ext cx="4754880" cy="310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Notaires, banquiers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3172641"/>
            <a:ext cx="5303520" cy="2163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3172641"/>
            <a:ext cx="5303520" cy="424543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3172641"/>
            <a:ext cx="5074920" cy="4245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39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💻  DIGITALE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327648" y="3646170"/>
            <a:ext cx="5074920" cy="408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Contacts obtenus via internet et réseaux sociaux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55080" y="4176849"/>
            <a:ext cx="128016" cy="1143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4087041"/>
            <a:ext cx="4754880" cy="310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Instagram, Facebook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55080" y="4544241"/>
            <a:ext cx="128016" cy="1143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4454434"/>
            <a:ext cx="4754880" cy="310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LinkedIn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4911634"/>
            <a:ext cx="128016" cy="1143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4821827"/>
            <a:ext cx="4754880" cy="310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Site de l'agence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5564777"/>
            <a:ext cx="10881360" cy="424543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5564777"/>
            <a:ext cx="10607040" cy="4245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8" dirty="0">
                <a:solidFill>
                  <a:srgbClr val="E8A0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Panneau : 7-15€/unité — Le panneau appelle le panneau  •  Flyer boîtage : retour 1/1000, notoriété  •  Pige : appel des annonces de particuliers  •  Phoning : prospection depuis fichier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Objectifs &amp; Ratios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Formules de calcul • Taux de transformation • Coûts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94191"/>
            <a:ext cx="1371600" cy="589513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94191"/>
            <a:ext cx="1371600" cy="589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5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0566"/>
            <a:ext cx="9601200" cy="589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91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Formules &amp; Ratios Clés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847458"/>
            <a:ext cx="2194560" cy="1146275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912959"/>
            <a:ext cx="2194560" cy="614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5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583K€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1518847"/>
            <a:ext cx="2011680" cy="409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95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 agence N-1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17520" y="847458"/>
            <a:ext cx="2194560" cy="1146275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912959"/>
            <a:ext cx="2194560" cy="614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5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66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108960" y="1518847"/>
            <a:ext cx="2011680" cy="409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95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Ventes sur l'année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94960" y="847458"/>
            <a:ext cx="2194560" cy="1146275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912959"/>
            <a:ext cx="2194560" cy="614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5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8 833€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486400" y="1518847"/>
            <a:ext cx="2011680" cy="409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95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Commission moyenne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847458"/>
            <a:ext cx="2194560" cy="1146275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0" y="912959"/>
            <a:ext cx="2194560" cy="614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5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863840" y="1518847"/>
            <a:ext cx="2011680" cy="409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95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Visites / vente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149840" y="847458"/>
            <a:ext cx="2194560" cy="1146275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939528" y="912959"/>
            <a:ext cx="2194560" cy="614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65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≈3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0122408" y="1518847"/>
            <a:ext cx="2011680" cy="409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95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Acquéreurs / vente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2239363"/>
            <a:ext cx="5303520" cy="98252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2239363"/>
            <a:ext cx="164592" cy="982521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2280301"/>
            <a:ext cx="4937760" cy="311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Commission moyenne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6112" y="2648747"/>
            <a:ext cx="4937760" cy="45851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2648747"/>
            <a:ext cx="4846320" cy="458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4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 total  ÷  Nombre de ventes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2239363"/>
            <a:ext cx="5303520" cy="98252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2239363"/>
            <a:ext cx="164592" cy="982521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2280301"/>
            <a:ext cx="4937760" cy="311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Taux transfo mandat → vente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73952" y="2648747"/>
            <a:ext cx="4937760" cy="45851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2648747"/>
            <a:ext cx="4846320" cy="458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4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Nb ventes  ÷  Nb mandats  ×  100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3344700"/>
            <a:ext cx="5303520" cy="98252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" y="3344700"/>
            <a:ext cx="164592" cy="982521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3385638"/>
            <a:ext cx="4937760" cy="311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Taux transfo estimation → mandat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96112" y="3754084"/>
            <a:ext cx="4937760" cy="45851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3754084"/>
            <a:ext cx="4846320" cy="458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4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Nb mandats  ÷  Nb estimations  ×  100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3344700"/>
            <a:ext cx="5303520" cy="98252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3344700"/>
            <a:ext cx="164592" cy="982521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3385638"/>
            <a:ext cx="4937760" cy="311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Coût acquisition d'un mandat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73952" y="3754084"/>
            <a:ext cx="4937760" cy="45851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3754084"/>
            <a:ext cx="4846320" cy="458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4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Coût prospection  ÷  Nb mandats rentré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" y="4450036"/>
            <a:ext cx="5303520" cy="98252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40080" y="4450036"/>
            <a:ext cx="164592" cy="982521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" y="4490975"/>
            <a:ext cx="4937760" cy="311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Prix Net Vendeur (HFA) depuis FAI 6,5%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96112" y="4859420"/>
            <a:ext cx="4937760" cy="45851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7552" y="4859420"/>
            <a:ext cx="4846320" cy="458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4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Prix FAI  ÷  1,065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217920" y="4450036"/>
            <a:ext cx="5303520" cy="98252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17920" y="4450036"/>
            <a:ext cx="164592" cy="982521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73952" y="4490975"/>
            <a:ext cx="4937760" cy="3111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Prix HT depuis TTC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73952" y="4859420"/>
            <a:ext cx="4937760" cy="45851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65392" y="4859420"/>
            <a:ext cx="4846320" cy="4585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74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Prix TTC  ÷  1,20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0080" y="5596311"/>
            <a:ext cx="10881360" cy="393009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1520" y="5596311"/>
            <a:ext cx="10698480" cy="3930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5" b="1" dirty="0">
                <a:solidFill>
                  <a:srgbClr val="7B00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⚠  Objectif conseiller : identifier combien de ventes/mandats/estimations sont nécessaires pour atteindre le salaire visé (calcul en cascade)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Les Diagnostics Immobiliers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DDT • DPE • ERP • Plomb • Gaz • Amiante • Termites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Diagnostics Obligatoires — Tableau Complet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2011680" cy="3657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914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914400"/>
            <a:ext cx="3657600" cy="3657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0632" y="914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914400"/>
            <a:ext cx="3017520" cy="3657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914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DURÉE VALIDITÉ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1325880"/>
            <a:ext cx="8778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389888"/>
            <a:ext cx="128016" cy="3200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325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97480" y="1325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TOUS biens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325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ans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1828800"/>
            <a:ext cx="877824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1892808"/>
            <a:ext cx="128016" cy="3200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TOUS biens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mois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2331720"/>
            <a:ext cx="8778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395728"/>
            <a:ext cx="128016" cy="32004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Plomb (CREP)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97480" y="2331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Avant 1949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331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Illimitée si négatif / 1 an si positif (vente)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2834640"/>
            <a:ext cx="877824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2898648"/>
            <a:ext cx="128016" cy="3200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Amiante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9748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PC avant 1/7/1997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Illimitée si négatif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3337560"/>
            <a:ext cx="8778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3401568"/>
            <a:ext cx="128016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Gaz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97480" y="3337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Install. &gt; 15 ans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ans (vente) / 6 ans (loc)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3840480"/>
            <a:ext cx="877824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3904488"/>
            <a:ext cx="128016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Électricité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697480" y="3840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Install. &gt; 15 ans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3840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ans (vente) / 6 ans (loc)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4343400"/>
            <a:ext cx="8778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4407408"/>
            <a:ext cx="128016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Termites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697480" y="4343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Zones arrêté préfect.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0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mois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" y="4846320"/>
            <a:ext cx="877824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" y="4910328"/>
            <a:ext cx="128016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2960" y="4846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Assainissement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697480" y="48463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Non raccordé tout-à-l'égout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00800" y="4846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ans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" y="5349240"/>
            <a:ext cx="8778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" y="5413248"/>
            <a:ext cx="128016" cy="3200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22960" y="5349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Bruit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697480" y="5349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Zones aéroportuaires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400800" y="5349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Illimitée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646920" y="914400"/>
            <a:ext cx="2377440" cy="5486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973836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À RETENIR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738360" y="1444752"/>
            <a:ext cx="2103120" cy="7132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784080" y="144475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DPE + ERP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TOUJOURS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obligatoires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738360" y="2249424"/>
            <a:ext cx="2103120" cy="7132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84080" y="224942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Plomb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avant 1949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738360" y="3054096"/>
            <a:ext cx="2103120" cy="7132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84080" y="3054096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Amiante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avant 1997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738360" y="3858768"/>
            <a:ext cx="2103120" cy="7132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84080" y="385876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Gaz / Élec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si &gt; 15 ans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9738360" y="4663440"/>
            <a:ext cx="2103120" cy="7132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784080" y="46634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DDT = dossier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regroupant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tous les diags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Estimation &amp; Avis de Valeur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R1 • Méthodes d'estimation • Découverte vendeur • Pondération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Méthodes d'Estimation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14400"/>
            <a:ext cx="3611880" cy="43891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9144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 COMPARAISON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Analyse des ventes récentes de biens similaires. Réduction au m². La + utilisée (fisc + juridictions).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2542032"/>
            <a:ext cx="3465576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5420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Prix m² moyen × Surface du bien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4840" y="91440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34840" y="914400"/>
            <a:ext cx="36118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9144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 CAPITALISATION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141732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Valeur basée sur les revenus locatifs. Côté investisseur. Plus le taux est bas, plus le prix est élevé.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07992" y="2542032"/>
            <a:ext cx="3465576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25420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Loyer annuel ÷ Taux de capitalisation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29600" y="91440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914400"/>
            <a:ext cx="361188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91440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 + CONSTRUCTION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21040" y="141732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Valorise séparément le terrain et le bâti. Méthode privilégiée pour les maisons et immeubles.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302752" y="2542032"/>
            <a:ext cx="3465576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9328" y="25420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Valeur sol + Valeur bâti (- vétusté)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" y="333756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337560"/>
            <a:ext cx="3611880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33756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INDICIAIRE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384048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Basée sur le prix d'achat actualisé avec un coefficient d'érosion monétaire.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3232" y="4965192"/>
            <a:ext cx="3465576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49651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Prix achat × Coefficient érosion monétaire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34840" y="333756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34840" y="3337560"/>
            <a:ext cx="3611880" cy="438912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26280" y="333756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 LES COÛTS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26280" y="384048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Coût de reconstruction à l'identique. Adaptée aux cas spécifiques (assurances, copropriétés).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07992" y="4965192"/>
            <a:ext cx="3465576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44568" y="49651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Foncier + Bâti + Équipements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29600" y="3337560"/>
            <a:ext cx="36118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29600" y="3337560"/>
            <a:ext cx="3611880" cy="438912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333756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COMPTE À REBOURS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21040" y="3840480"/>
            <a:ext cx="3429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 du prix de vente possible. Utilisée par les promoteurs / lotisseurs.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302752" y="4965192"/>
            <a:ext cx="3465576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39328" y="496519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Prix vente - marge - travaux - frais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86101"/>
            <a:ext cx="1371600" cy="6159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86101"/>
            <a:ext cx="1371600" cy="615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9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3212"/>
            <a:ext cx="9601200" cy="615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71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Préparation R1 &amp; Découverte Vendeur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873197"/>
            <a:ext cx="5303520" cy="342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16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AVANT LE R1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300967"/>
            <a:ext cx="5303520" cy="898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343744"/>
            <a:ext cx="548640" cy="55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1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343744"/>
            <a:ext cx="4572000" cy="727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9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Confirmer le RDV + pré-découverte (Qui / Quoi / Pourquoi / Quand / Où)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327613"/>
            <a:ext cx="5303520" cy="898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370390"/>
            <a:ext cx="548640" cy="55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1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80160" y="2370390"/>
            <a:ext cx="4572000" cy="727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9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Demander : titre de propriété, taxe foncière, charges de copropriété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354260"/>
            <a:ext cx="5303520" cy="898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397037"/>
            <a:ext cx="548640" cy="55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1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397037"/>
            <a:ext cx="4572000" cy="727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9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Rechercher les ventes récentes sur le secteur (DVF, Google Maps, Street View)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380907"/>
            <a:ext cx="5303520" cy="89831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4423684"/>
            <a:ext cx="548640" cy="556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1" dirty="0">
                <a:solidFill>
                  <a:srgbClr val="000000"/>
                </a:solidFill>
              </a:rPr>
              <a:t>🏘️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4423684"/>
            <a:ext cx="4572000" cy="727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9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Analyser la concurrence — biens similaires actuellement en vente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873197"/>
            <a:ext cx="5394960" cy="342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16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DÉCOUVERTE VENDEUR (3 Temps)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0" y="1300967"/>
            <a:ext cx="5394960" cy="1266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1300967"/>
            <a:ext cx="1371600" cy="126619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300967"/>
            <a:ext cx="1371600" cy="1266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3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Son PASSÉ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01000" y="1352299"/>
            <a:ext cx="3886200" cy="325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Comment a-t-il acheté le bien ?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01000" y="1711625"/>
            <a:ext cx="3886200" cy="325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Via agence ou particulier ?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01000" y="2070952"/>
            <a:ext cx="3886200" cy="325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A-t-il fait une offre à la baisse 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0" y="2686940"/>
            <a:ext cx="5394960" cy="1266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83680" y="2686940"/>
            <a:ext cx="1371600" cy="126619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2686940"/>
            <a:ext cx="1371600" cy="1266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3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Son PRÉSENT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01000" y="2738272"/>
            <a:ext cx="3886200" cy="325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Qui vend ? (tous propriétaires)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001000" y="3097598"/>
            <a:ext cx="3886200" cy="325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Raison de la vente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01000" y="3456925"/>
            <a:ext cx="3886200" cy="325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Situation actuelle du bien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83680" y="4072913"/>
            <a:ext cx="5394960" cy="1266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83680" y="4072913"/>
            <a:ext cx="1371600" cy="126619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072913"/>
            <a:ext cx="1371600" cy="12661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3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Son FUTUR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001000" y="4124245"/>
            <a:ext cx="3886200" cy="325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Délai souhaité de vente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001000" y="4483571"/>
            <a:ext cx="3886200" cy="325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Date limite d'encaissement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001000" y="4842898"/>
            <a:ext cx="3886200" cy="325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2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Réemploi des fonds prévus ?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" y="5578661"/>
            <a:ext cx="10881360" cy="410659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578661"/>
            <a:ext cx="10698480" cy="410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9" b="1" dirty="0">
                <a:solidFill>
                  <a:srgbClr val="7B00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⚠  Bonne découverte vendeur = meilleur argumentaire + traitement des objections facilité au R2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4808676"/>
            <a:ext cx="5303520" cy="667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4851453"/>
            <a:ext cx="5029200" cy="2566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9" b="1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Grille de pondération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77240" y="5116670"/>
            <a:ext cx="5029200" cy="3251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9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Ascenseur +1/2% • Espaces verts +5% • RDC jusqu'à -30% • Pas espaces verts -5% • Pas ascenseur -8%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6bis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Viager &amp; Démembrement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Crédirentier • Débirentier • Bouquet • Rente viagère • Usufruit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6bis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Le Viager — Principes &amp; Calcul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14400"/>
            <a:ext cx="1828800" cy="86868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9144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CRÉDIRENTIER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78608" y="91440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VENDEUR — reçoit la rente viagère jusqu'à son décès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91440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914400"/>
            <a:ext cx="1828800" cy="86868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9144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DÉBIRENTIER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56448" y="91440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L'ACHETEUR — verse la rente et le bouquet initial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192024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1920240"/>
            <a:ext cx="1828800" cy="8686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192024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BOUQUET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78608" y="192024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Somme versée COMPTANT lors de la vente (≈20-30% valeur)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920240"/>
            <a:ext cx="18288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192024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RENTE VIAGÈRE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56448" y="192024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Versement périodique jusqu'au décès du crédirentier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21031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LES 2 TYPES DE VIAGER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2542032"/>
            <a:ext cx="5303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2542032"/>
            <a:ext cx="5303520" cy="47548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2542032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VIAGER OCCUPÉ  (~95% des cas)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" y="3072384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vendeur reste dans le bien (droit d'usage).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valeur est réduite d'un abattement d'occupation (20 à 40%).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9808" y="3840480"/>
            <a:ext cx="507492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38404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4A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Plus accessible pour l'acheteur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542032"/>
            <a:ext cx="5303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542032"/>
            <a:ext cx="53035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2542032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VIAGER LIBRE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27648" y="3072384"/>
            <a:ext cx="5074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bien est immédiatement disponible pour l'acheteur.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 d'abattement — valeur pleine du bien.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27648" y="3840480"/>
            <a:ext cx="5074920" cy="5943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384048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Plus coûteux pour l'acheteur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4754880"/>
            <a:ext cx="5303520" cy="45720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754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Rente = (Valeur nue-propriété − Bouquet) ÷ Coeff. barème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17920" y="4754880"/>
            <a:ext cx="5303520" cy="45720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4754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Valeur usufruit = Valeur vénale × % barème fiscal (âge)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5486400"/>
            <a:ext cx="10881360" cy="438912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486400"/>
            <a:ext cx="10698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00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⚠  L'aléa est l'essence du viager : si le vendeur vit longtemps → avantage vendeur. Décès précoce → avantage acheteur.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6bis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Le Démembrement de Propriété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10881360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9144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PLEINE PROPRIÉTÉ = USUFRUIT + NUE-PROPRIÉTÉ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53035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011680"/>
            <a:ext cx="5303520" cy="50292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0116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USUFRUIT (Usus + Fructus)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60604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Détenteur : l'USUFRUITIER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297180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Droit d'UTILISER le bien (usus)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4672" y="341071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Droit d'en PERCEVOIR les revenus / loyers (fructus)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" y="3849624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Ne peut pas le vendre sans accord du nu-propriétaire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" y="4288536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Doit entretenir le bien (charges courantes)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0" y="2011680"/>
            <a:ext cx="53035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011680"/>
            <a:ext cx="53035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201168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NUE-PROPRIÉTÉ (Abusus)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10528" y="260604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Détenteur : le NU-PROPRIÉTAIRE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9718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Droit de DISPOSER du bien (vendre, donner)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3410712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Ne peut pas l'utiliser sans accord de l'usufruitier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37960" y="3849624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Récupère la pleine propriété à l'extinction de l'usufruit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7960" y="4288536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Gros travaux à sa charge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881360" cy="1417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04672" y="512064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AVANTAGES FISCAUX DU DÉMEMBREMENT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04672" y="54864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 Réduction de l'IFI (Impôt sur la Fortune Immobilière)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91072" y="548640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 Optimisation des droits de succession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" y="58064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 Baisse de l'impôt sur le revenu foncier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91072" y="580644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  Transmission anticipée du patrimoine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Mandats &amp; Dossier Mandat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Loi Hoguet • Mentions obligatoires • Types • Registre • Documents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92103"/>
            <a:ext cx="1371600" cy="5963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92103"/>
            <a:ext cx="1371600" cy="596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6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8668"/>
            <a:ext cx="9601200" cy="596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12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Types de Mandats &amp; Mentions Obligatoires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854103"/>
            <a:ext cx="6583680" cy="331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78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TYPES DE MANDATS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251668"/>
            <a:ext cx="6492240" cy="911087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251668"/>
            <a:ext cx="1828800" cy="911087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251668"/>
            <a:ext cx="1737360" cy="91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7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SIMPLE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23744" y="1293081"/>
            <a:ext cx="4480560" cy="596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Plusieurs agences possibles. Pas de monopole.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23744" y="1897711"/>
            <a:ext cx="4480560" cy="231913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1897711"/>
            <a:ext cx="4297680" cy="231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1" i="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Irrévocabilité : Aucune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286994"/>
            <a:ext cx="6492240" cy="911087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286994"/>
            <a:ext cx="1828800" cy="911087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286994"/>
            <a:ext cx="1737360" cy="91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7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EXCLUSIF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23744" y="2328407"/>
            <a:ext cx="4480560" cy="596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seul mandataire. Résiliation après 3 mois (préavis 15j). Clause pénale possible.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523744" y="2933037"/>
            <a:ext cx="4480560" cy="231913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15184" y="2933037"/>
            <a:ext cx="4297680" cy="231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1" i="1" dirty="0">
                <a:solidFill>
                  <a:srgbClr val="1A4A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Irrévocabilité : 3 mois min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3322320"/>
            <a:ext cx="6492240" cy="911087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322320"/>
            <a:ext cx="1828800" cy="91108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322320"/>
            <a:ext cx="1737360" cy="91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7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SEMI-EXCLUSIF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23744" y="3363733"/>
            <a:ext cx="4480560" cy="596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Exclusivité + le propriétaire peut vendre en direct.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523744" y="3968363"/>
            <a:ext cx="4480560" cy="231913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15184" y="3968363"/>
            <a:ext cx="4297680" cy="231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1" i="1" dirty="0">
                <a:solidFill>
                  <a:srgbClr val="0D948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Irrévocabilité : 3 mois min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4357646"/>
            <a:ext cx="6492240" cy="911087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4357646"/>
            <a:ext cx="1828800" cy="911087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357646"/>
            <a:ext cx="1737360" cy="91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7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DE RECHERCHE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4399059"/>
            <a:ext cx="4480560" cy="596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Conclu avec un ACQUÉREUR — précise zone, type de bien, budget.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523744" y="5003690"/>
            <a:ext cx="4480560" cy="231913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15184" y="5003690"/>
            <a:ext cx="4297680" cy="231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1" i="1" dirty="0">
                <a:solidFill>
                  <a:srgbClr val="7C3AE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Irrévocabilité : Variable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406640" y="854103"/>
            <a:ext cx="4572000" cy="331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78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MENTIONS OBLIGATOIRES (Loi Hoguet)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06640" y="1268233"/>
            <a:ext cx="292608" cy="372717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1268233"/>
            <a:ext cx="292608" cy="372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6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754112" y="1268233"/>
            <a:ext cx="4224528" cy="3727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Identité mandant + mandataire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06640" y="1723777"/>
            <a:ext cx="292608" cy="372717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1723777"/>
            <a:ext cx="292608" cy="372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6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54112" y="1723777"/>
            <a:ext cx="4224528" cy="3727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N° carte professionnelle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406640" y="2179320"/>
            <a:ext cx="292608" cy="372717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2179320"/>
            <a:ext cx="292608" cy="372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6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54112" y="2179320"/>
            <a:ext cx="4224528" cy="3727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RCP + Garantie financière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406640" y="2634863"/>
            <a:ext cx="292608" cy="372717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06640" y="2634863"/>
            <a:ext cx="292608" cy="372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6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54112" y="2634863"/>
            <a:ext cx="4224528" cy="3727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Désignation précise du bien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406640" y="3090407"/>
            <a:ext cx="292608" cy="372717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0" y="3090407"/>
            <a:ext cx="292608" cy="372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6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54112" y="3090407"/>
            <a:ext cx="4224528" cy="3727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Prix de vente TTC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406640" y="3545950"/>
            <a:ext cx="292608" cy="372717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06640" y="3545950"/>
            <a:ext cx="292608" cy="372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6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54112" y="3545950"/>
            <a:ext cx="4224528" cy="3727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Durée + modalités de résiliation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406640" y="4001494"/>
            <a:ext cx="292608" cy="372717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06640" y="4001494"/>
            <a:ext cx="292608" cy="372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6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754112" y="4001494"/>
            <a:ext cx="4224528" cy="3727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Montant et répartition des honoraires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406640" y="4457037"/>
            <a:ext cx="292608" cy="372717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06640" y="4457037"/>
            <a:ext cx="292608" cy="372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6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754112" y="4457037"/>
            <a:ext cx="4224528" cy="3727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N° au registre des mandats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406640" y="4912581"/>
            <a:ext cx="292608" cy="372717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06640" y="4912581"/>
            <a:ext cx="292608" cy="372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6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754112" y="4912581"/>
            <a:ext cx="4224528" cy="3727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1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Moyens de diffusion utilisés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40080" y="5591755"/>
            <a:ext cx="10881360" cy="397565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1520" y="5591755"/>
            <a:ext cx="10698480" cy="3975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96" b="1" dirty="0">
                <a:solidFill>
                  <a:srgbClr val="7B00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⚠  🚨  RÈGLE : 1 mention manquante = nullité du mandat = ZÉRO honoraire (même si la vente a eu lieu)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91040"/>
            <a:ext cx="1371600" cy="599825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91040"/>
            <a:ext cx="1371600" cy="599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2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07702"/>
            <a:ext cx="9601200" cy="599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22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Dossier Mandat &amp; Registre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857483"/>
            <a:ext cx="5303520" cy="2166035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899138"/>
            <a:ext cx="5029200" cy="349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4" b="1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 REGISTRE DES MANDATS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315683"/>
            <a:ext cx="5029200" cy="291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Obligatoire (papier ou électronique)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4672" y="1632257"/>
            <a:ext cx="5029200" cy="291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Unique par agence sauf T et G = 2 registres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948832"/>
            <a:ext cx="5029200" cy="291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Numérotation chronologique sans blanc ni rature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4672" y="2265406"/>
            <a:ext cx="5029200" cy="291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Chaque mandat inscrit avec toutes ses caractéristiques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4672" y="2581980"/>
            <a:ext cx="5029200" cy="2915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Délégation de mandat = doit y être inscrite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148482"/>
            <a:ext cx="5303520" cy="333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93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DOCUMENTS VENDEUR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" y="3623343"/>
            <a:ext cx="128016" cy="116633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523372"/>
            <a:ext cx="4937760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CNI, livret de famille, contrat de mariage / PACS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4056550"/>
            <a:ext cx="128016" cy="116633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56579"/>
            <a:ext cx="4937760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Titre de propriété (date, prix achat, financement)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13232" y="4489757"/>
            <a:ext cx="128016" cy="116633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389786"/>
            <a:ext cx="4937760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Dernier avis de taxe foncière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" y="4922964"/>
            <a:ext cx="128016" cy="116633"/>
          </a:xfrm>
          <a:prstGeom prst="ellipse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822993"/>
            <a:ext cx="4937760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Factures travaux / devis si rénovation récente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0" y="857483"/>
            <a:ext cx="5486400" cy="333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93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BIEN EN COPROPRIÉTÉ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73952" y="1340676"/>
            <a:ext cx="128016" cy="116633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232374"/>
            <a:ext cx="5212080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PV d'assemblées générales (3 dernières années)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73952" y="1773883"/>
            <a:ext cx="128016" cy="116633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1665581"/>
            <a:ext cx="5212080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Relevés de charges (2 dernières années)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73952" y="2207090"/>
            <a:ext cx="128016" cy="116633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2098788"/>
            <a:ext cx="5212080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Règlement de copropriété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73952" y="2640297"/>
            <a:ext cx="128016" cy="116633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2531995"/>
            <a:ext cx="5212080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État descriptif de division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73952" y="3073504"/>
            <a:ext cx="128016" cy="116633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56832" y="2965202"/>
            <a:ext cx="5212080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Carnet d'entretien de l'immeuble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73952" y="3506711"/>
            <a:ext cx="128016" cy="116633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6832" y="3398409"/>
            <a:ext cx="5212080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Fiche d'immatriculation + fiche synthétique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73952" y="3939918"/>
            <a:ext cx="128016" cy="116633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56832" y="3831616"/>
            <a:ext cx="5212080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Extrait du cadastre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4356463"/>
            <a:ext cx="5486400" cy="3332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93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PLEINE PROPRIÉTÉ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73952" y="4839655"/>
            <a:ext cx="128016" cy="116633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4731354"/>
            <a:ext cx="5212080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Permis de construire (si travaux &gt; 20m²)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73952" y="5272862"/>
            <a:ext cx="128016" cy="116633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56832" y="5164561"/>
            <a:ext cx="5212080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Déclaration préalable + certificat conformité (si &lt; 10 ans)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73952" y="5706069"/>
            <a:ext cx="128016" cy="116633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56832" y="5597768"/>
            <a:ext cx="5212080" cy="374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Extrait du cadastre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" y="5589437"/>
            <a:ext cx="10881360" cy="399883"/>
          </a:xfrm>
          <a:prstGeom prst="rect">
            <a:avLst/>
          </a:prstGeom>
          <a:solidFill>
            <a:srgbClr val="E85D75">
              <a:alpha val="85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5589437"/>
            <a:ext cx="10698480" cy="399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2" b="1" dirty="0">
                <a:solidFill>
                  <a:srgbClr val="7B00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⚠  Loi Hamon : DIP (Document Information Précontractuelle) obligatoire + droit de rétractation 14 jours pour les mandats signés hors établissement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Financement Immobilier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Intérêts simples vs composés • Taux proportionnel vs équivalent • Mensualité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731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1440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Intérêts Simples vs Intérêts Composés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53035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4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914400"/>
            <a:ext cx="5303520" cy="54864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9144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INTÉRÊTS SIMPLES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1536192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intérêts sont calculés uniquement sur le capital de départ. Progression LINÉAIRE.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2176272"/>
            <a:ext cx="5074920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17627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 = C × t × 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9808" y="2816352"/>
            <a:ext cx="502920" cy="38404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8163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8163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Intérêts obtenus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3255264"/>
            <a:ext cx="502920" cy="38404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2552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32552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Capital initial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9808" y="3694176"/>
            <a:ext cx="502920" cy="38404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69417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69417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Taux (en décimal)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9808" y="4133088"/>
            <a:ext cx="502920" cy="384048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1330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25880" y="41330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Durée en années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" y="4663440"/>
            <a:ext cx="507492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709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Exemple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" y="49834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1 000 € à 5% pendant 2 ans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68680" y="523951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4A8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 = 1 000 × 0,05 × 2 = 100 €  (50 €/an)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914400"/>
            <a:ext cx="53035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914400"/>
            <a:ext cx="530352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91440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INTÉRÊTS COMPOSÉS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510528" y="1536192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intérêts sont réinvestis et produisent eux-mêmes des intérêts. Progression EXPONENTIELLE.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10528" y="2176272"/>
            <a:ext cx="5074920" cy="502920"/>
          </a:xfrm>
          <a:prstGeom prst="rect">
            <a:avLst/>
          </a:prstGeom>
          <a:solidFill>
            <a:srgbClr val="00C9A7">
              <a:alpha val="8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2176272"/>
            <a:ext cx="5074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Cn = C₀ × (1 + t)ⁿ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510528" y="2816352"/>
            <a:ext cx="502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0528" y="281635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86600" y="28163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Capital final obtenu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10528" y="3255264"/>
            <a:ext cx="502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32552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C₀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86600" y="325526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Capital initial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10528" y="3694176"/>
            <a:ext cx="502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0528" y="369417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86600" y="369417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Taux (en décimal)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10528" y="4133088"/>
            <a:ext cx="502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10528" y="41330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086600" y="413308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Nombre de périodes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10528" y="4663440"/>
            <a:ext cx="507492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47091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Exemple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629400" y="49834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1 000 € à 5% pendant 2 ans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629400" y="523951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C₂ = 1 000 × (1,05)² = 1 102,50 €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96735"/>
            <a:ext cx="1371600" cy="58118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0" y="96735"/>
            <a:ext cx="1371600" cy="581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1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MOD.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12879"/>
            <a:ext cx="9601200" cy="581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66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Taux Périodiques &amp; Mensualité de Prêt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839362"/>
            <a:ext cx="10881360" cy="3228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8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TAUX PROPORTIONNEL vs ÉQUIVALENT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242964"/>
            <a:ext cx="2011680" cy="339025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242964"/>
            <a:ext cx="1920240" cy="339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3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PÉRIODE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242964"/>
            <a:ext cx="1645920" cy="339025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70632" y="1242964"/>
            <a:ext cx="1554480" cy="339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3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Nb périodes/an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70832" y="1242964"/>
            <a:ext cx="3200400" cy="339025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1242964"/>
            <a:ext cx="3108960" cy="339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3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PROPORTIONNEL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07808" y="1242964"/>
            <a:ext cx="3200400" cy="339025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1242964"/>
            <a:ext cx="3108960" cy="339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3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ÉQUIVALENT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1630422"/>
            <a:ext cx="10168128" cy="40360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1630422"/>
            <a:ext cx="192024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Annuel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70632" y="1630422"/>
            <a:ext cx="155448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43984" y="1630422"/>
            <a:ext cx="310896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80960" y="1630422"/>
            <a:ext cx="310896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074384"/>
            <a:ext cx="10168128" cy="40360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2074384"/>
            <a:ext cx="192024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Semestriel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70632" y="2074384"/>
            <a:ext cx="155448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43984" y="2074384"/>
            <a:ext cx="310896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 ÷ 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80960" y="2074384"/>
            <a:ext cx="310896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(1+t)^(1/2) − 1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2518345"/>
            <a:ext cx="10168128" cy="40360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2518345"/>
            <a:ext cx="192024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Trimestriel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770632" y="2518345"/>
            <a:ext cx="155448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43984" y="2518345"/>
            <a:ext cx="310896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 ÷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680960" y="2518345"/>
            <a:ext cx="310896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(1+t)^(1/4) − 1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2962307"/>
            <a:ext cx="10168128" cy="403602"/>
          </a:xfrm>
          <a:prstGeom prst="rect">
            <a:avLst/>
          </a:prstGeom>
          <a:solidFill>
            <a:srgbClr val="F0F4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2962307"/>
            <a:ext cx="192024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Bimensuel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70632" y="2962307"/>
            <a:ext cx="155448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43984" y="2962307"/>
            <a:ext cx="310896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 ÷ 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80960" y="2962307"/>
            <a:ext cx="310896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(1+t)^(1/6) − 1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3406269"/>
            <a:ext cx="10168128" cy="40360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3406269"/>
            <a:ext cx="192024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Mensuel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70632" y="3406269"/>
            <a:ext cx="155448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443984" y="3406269"/>
            <a:ext cx="310896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 ÷ 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80960" y="3406269"/>
            <a:ext cx="310896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b="1" dirty="0">
                <a:solidFill>
                  <a:srgbClr val="005C4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(1+t)^(1/12) − 1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3971312"/>
            <a:ext cx="10168128" cy="339025"/>
          </a:xfrm>
          <a:prstGeom prst="rect">
            <a:avLst/>
          </a:prstGeom>
          <a:solidFill>
            <a:srgbClr val="E85D75">
              <a:alpha val="80000"/>
            </a:srgbClr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3971312"/>
            <a:ext cx="10058400" cy="339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1" b="1" dirty="0">
                <a:solidFill>
                  <a:srgbClr val="7B00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⚠  PIÈGE BTS : Le taux équivalent est TOUJOURS légèrement inférieur au taux proportionnel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" y="4431417"/>
            <a:ext cx="10881360" cy="306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8" b="1" dirty="0">
                <a:solidFill>
                  <a:srgbClr val="0D1F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FORMULE DE LA MENSUALITÉ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" y="4794659"/>
            <a:ext cx="10168128" cy="500466"/>
          </a:xfrm>
          <a:prstGeom prst="rect">
            <a:avLst/>
          </a:prstGeom>
          <a:solidFill>
            <a:srgbClr val="00C9A7">
              <a:alpha val="9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794659"/>
            <a:ext cx="10058400" cy="5004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89" b="1" dirty="0">
                <a:solidFill>
                  <a:srgbClr val="003D3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  =  C × tₘ  ÷  [ 1 − (1 + tₘ)^(−n) ]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40080" y="5359701"/>
            <a:ext cx="457200" cy="290593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359701"/>
            <a:ext cx="457200" cy="290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9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70432" y="5359701"/>
            <a:ext cx="4480560" cy="290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Mensualité (€)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760720" y="5359701"/>
            <a:ext cx="457200" cy="290593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60720" y="5359701"/>
            <a:ext cx="457200" cy="290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9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91072" y="5359701"/>
            <a:ext cx="4480560" cy="290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Capital emprunté (€)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0080" y="5698727"/>
            <a:ext cx="457200" cy="290593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5698727"/>
            <a:ext cx="457200" cy="290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9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tₘ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70432" y="5698727"/>
            <a:ext cx="4480560" cy="290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Taux mensuel (t/12 pour proportionnel)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760720" y="5698727"/>
            <a:ext cx="457200" cy="290593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60720" y="5698727"/>
            <a:ext cx="457200" cy="290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9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291072" y="5698727"/>
            <a:ext cx="4480560" cy="290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7" dirty="0">
                <a:solidFill>
                  <a:srgbClr val="4A556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Durée en mois (ex: 20 ans = 240 mois)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4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457200"/>
            <a:ext cx="5486400" cy="5486400"/>
          </a:xfrm>
          <a:prstGeom prst="ellipse">
            <a:avLst/>
          </a:prstGeom>
          <a:solidFill>
            <a:srgbClr val="0D1F3C">
              <a:alpha val="60000"/>
            </a:srgbClr>
          </a:solidFill>
          <a:ln w="12700">
            <a:solidFill>
              <a:srgbClr val="0D1F3C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E8A0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MODULE 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Synthèse &amp; Règles d'or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0CC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10 règles essentielles pour réussir le BTS PI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3239"/>
            <a:ext cx="10972800" cy="5246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72" b="1" dirty="0">
                <a:solidFill>
                  <a:srgbClr val="E8A020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 RÈGLES D'OR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39362"/>
            <a:ext cx="5486400" cy="807203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E85D75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39362"/>
            <a:ext cx="548640" cy="807203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39362"/>
            <a:ext cx="548640" cy="807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6" b="1" dirty="0">
                <a:solidFill>
                  <a:srgbClr val="0D1F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61872" y="879723"/>
            <a:ext cx="4754880" cy="339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1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Sans mandat écrit = ZÉRO honoraire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61872" y="1259108"/>
            <a:ext cx="4754880" cy="306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3" dirty="0">
                <a:solidFill>
                  <a:srgbClr val="A0B4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Loi Hoguet — aucune exception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839362"/>
            <a:ext cx="5486400" cy="807203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839362"/>
            <a:ext cx="548640" cy="807203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839362"/>
            <a:ext cx="548640" cy="807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6" b="1" dirty="0">
                <a:solidFill>
                  <a:srgbClr val="0D1F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976872" y="879723"/>
            <a:ext cx="4754880" cy="339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1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DPE + ERP = TOUJOURS obligatoires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76872" y="1259108"/>
            <a:ext cx="4754880" cy="306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3" dirty="0">
                <a:solidFill>
                  <a:srgbClr val="A0B4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autres dépendent du bien (date, zone, install.)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1767646"/>
            <a:ext cx="5486400" cy="807203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1767646"/>
            <a:ext cx="548640" cy="807203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1767646"/>
            <a:ext cx="548640" cy="807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6" b="1" dirty="0">
                <a:solidFill>
                  <a:srgbClr val="0D1F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61872" y="1808006"/>
            <a:ext cx="4754880" cy="339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1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4×20 : préparez votre 1ère impression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61872" y="2187392"/>
            <a:ext cx="4754880" cy="306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3" dirty="0">
                <a:solidFill>
                  <a:srgbClr val="A0B4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sec, 20 gestes, 20 mots, 20 cm du visage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1767646"/>
            <a:ext cx="5486400" cy="807203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1767646"/>
            <a:ext cx="548640" cy="807203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767646"/>
            <a:ext cx="548640" cy="807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6" b="1" dirty="0">
                <a:solidFill>
                  <a:srgbClr val="0D1F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76872" y="1808006"/>
            <a:ext cx="4754880" cy="339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1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Mandat exclusif = irrévocable 3 mois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76872" y="2187392"/>
            <a:ext cx="4754880" cy="306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3" dirty="0">
                <a:solidFill>
                  <a:srgbClr val="A0B4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Résiliation possible après 3 mois (préavis 15 jours)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2695930"/>
            <a:ext cx="5486400" cy="807203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2695930"/>
            <a:ext cx="548640" cy="807203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695930"/>
            <a:ext cx="548640" cy="807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6" b="1" dirty="0">
                <a:solidFill>
                  <a:srgbClr val="0D1F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61872" y="2736290"/>
            <a:ext cx="4754880" cy="339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1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Méthode par comparaison = référence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61872" y="3115676"/>
            <a:ext cx="4754880" cy="306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3" dirty="0">
                <a:solidFill>
                  <a:srgbClr val="A0B4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Utilisée par les services fiscaux et les juridictions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55080" y="2695930"/>
            <a:ext cx="5486400" cy="807203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E85D75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2695930"/>
            <a:ext cx="548640" cy="807203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695930"/>
            <a:ext cx="548640" cy="807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6" b="1" dirty="0">
                <a:solidFill>
                  <a:srgbClr val="0D1F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76872" y="2736290"/>
            <a:ext cx="4754880" cy="339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1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Taux équivalent &lt; Taux proportionnel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76872" y="3115676"/>
            <a:ext cx="4754880" cy="306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3" dirty="0">
                <a:solidFill>
                  <a:srgbClr val="A0B4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taux équivalent tient compte de la capitalisation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3624214"/>
            <a:ext cx="5486400" cy="807203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3624214"/>
            <a:ext cx="548640" cy="807203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624214"/>
            <a:ext cx="548640" cy="807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6" b="1" dirty="0">
                <a:solidFill>
                  <a:srgbClr val="0D1F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261872" y="3664574"/>
            <a:ext cx="4754880" cy="339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1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Registre des mandats = chronologique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261872" y="4043960"/>
            <a:ext cx="4754880" cy="306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3" dirty="0">
                <a:solidFill>
                  <a:srgbClr val="A0B4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Sans blanc ni rature — support papier ou électronique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3624214"/>
            <a:ext cx="5486400" cy="807203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00C9A7">
                <a:alpha val="7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55080" y="3624214"/>
            <a:ext cx="548640" cy="807203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3624214"/>
            <a:ext cx="548640" cy="807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6" b="1" dirty="0">
                <a:solidFill>
                  <a:srgbClr val="0D1F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976872" y="3664574"/>
            <a:ext cx="4754880" cy="339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1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SONCAS : identifier le mobile dominant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76872" y="4043960"/>
            <a:ext cx="4754880" cy="306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3" dirty="0">
                <a:solidFill>
                  <a:srgbClr val="A0B4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Adapter son argumentaire au profil du client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" y="4552498"/>
            <a:ext cx="5486400" cy="807203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E8A020">
                <a:alpha val="7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" y="4552498"/>
            <a:ext cx="548640" cy="807203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552498"/>
            <a:ext cx="548640" cy="807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6" b="1" dirty="0">
                <a:solidFill>
                  <a:srgbClr val="0D1F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9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1261872" y="4592858"/>
            <a:ext cx="4754880" cy="339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1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Zone primaire = 80% du CA potentiel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61872" y="4972244"/>
            <a:ext cx="4754880" cy="306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3" dirty="0">
                <a:solidFill>
                  <a:srgbClr val="A0B4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C'est là que se concentre l'effort de prospection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55080" y="4552498"/>
            <a:ext cx="5486400" cy="807203"/>
          </a:xfrm>
          <a:prstGeom prst="rect">
            <a:avLst/>
          </a:prstGeom>
          <a:solidFill>
            <a:srgbClr val="1A4A8A">
              <a:alpha val="70000"/>
            </a:srgbClr>
          </a:solidFill>
          <a:ln w="12700">
            <a:solidFill>
              <a:srgbClr val="E85D75">
                <a:alpha val="7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55080" y="4552498"/>
            <a:ext cx="548640" cy="807203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4552498"/>
            <a:ext cx="548640" cy="807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66" b="1" dirty="0">
                <a:solidFill>
                  <a:srgbClr val="0D1F3C"/>
                </a:solidFill>
                <a:latin typeface="Newsreader" pitchFamily="34" charset="0"/>
                <a:ea typeface="Newsreader" pitchFamily="34" charset="-122"/>
                <a:cs typeface="Newsreader" pitchFamily="34" charset="-120"/>
              </a:rPr>
              <a:t>10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6976872" y="4592858"/>
            <a:ext cx="4754880" cy="339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71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Taux d'endettement max : 35%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76872" y="4972244"/>
            <a:ext cx="4754880" cy="306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3" dirty="0">
                <a:solidFill>
                  <a:srgbClr val="A0B4D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Règle HCSF — des revenus nets mensuels du ménage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5585718"/>
            <a:ext cx="11247120" cy="40360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5585718"/>
            <a:ext cx="11064240" cy="4036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71" b="1" dirty="0">
                <a:solidFill>
                  <a:srgbClr val="0D1F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Lenny AGAMAKOU  •  BTS PI INSEEC 2025-2026  •  Fiches de révision — Modules 1 à 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2026-05-14T15:04:59Z</dcterms:created>
  <dcterms:modified xsi:type="dcterms:W3CDTF">2026-05-14T15:04:59Z</dcterms:modified>
</cp:coreProperties>
</file>