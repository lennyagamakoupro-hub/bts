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97280"/>
            <a:ext cx="4572000" cy="4572000"/>
          </a:xfrm>
          <a:prstGeom prst="ellipse">
            <a:avLst/>
          </a:prstGeom>
          <a:solidFill>
            <a:srgbClr val="1A4A8A">
              <a:alpha val="30000"/>
            </a:srgbClr>
          </a:solidFill>
          <a:ln w="12700">
            <a:solidFill>
              <a:srgbClr val="1A4A8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114800"/>
            <a:ext cx="2743200" cy="274320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BTS PROFESSIONS IMMOBILIÈRES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FICHES DE RÉVISION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 à 11 — Conduite de projet Immo Vente / Location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Lenny AGAMAKOU  •  INSEEC BTS 2025-2026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029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Accueil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5029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5029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Entreprises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5029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5029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Prospection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5029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5029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Ratios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784080" y="5029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0" y="5029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Diagnostics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623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Estimation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562356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5623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6bis Viager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562356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5623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Mandats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0" y="562356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5623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Financement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Accueil &amp; Découverte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des 4×20 • SONCAS • Écoute active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Règle des 4×20 &amp; Communication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6012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60120"/>
            <a:ext cx="5303520" cy="34747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9601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premières SECONDES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362456"/>
            <a:ext cx="50840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Tenue soignée, comportement mesuré — la première impression ne se refait pas 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960120"/>
            <a:ext cx="5303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9601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premiers GESTES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27648" y="1362456"/>
            <a:ext cx="50840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 ouverts, attitude disponible, gestes en harmonie avec votre discours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880360"/>
            <a:ext cx="5303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803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premiers MOTS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3282696"/>
            <a:ext cx="50840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Saluer, se présenter, voix claire. Préparez vos phrases d'accroche !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88036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880360"/>
            <a:ext cx="530352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8803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cm du VISAGE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7648" y="3282696"/>
            <a:ext cx="50840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Sourire franc, regard soutenu = attentif et bienveillant envers le client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81360" cy="438912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93776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Vous n'avez qu'une seule occasion de faire une bonne première impression — préparez-vous avant chaque RDV 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SONCAS(E) &amp; Types de Questions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502920" cy="53035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1440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70432" y="914400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9144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914400"/>
            <a:ext cx="310896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144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Garanties, stabilité, rassurer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1517904"/>
            <a:ext cx="5029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51790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70432" y="1517904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151790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Orgueil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18688" y="1517904"/>
            <a:ext cx="310896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51790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Valoriser, statut, prestige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121408"/>
            <a:ext cx="5029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12140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70432" y="2121408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2121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Nouveauté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18688" y="2121408"/>
            <a:ext cx="310896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12140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Innovation, moderne, dernier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2724912"/>
            <a:ext cx="502920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72491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70432" y="2724912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07008" y="272491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18688" y="2724912"/>
            <a:ext cx="310896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7249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Facilité, praticité, bien-être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328416"/>
            <a:ext cx="502920" cy="530352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32841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70432" y="3328416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07008" y="332841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18688" y="3328416"/>
            <a:ext cx="310896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32841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Économie, rentabilité, ROI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3931920"/>
            <a:ext cx="502920" cy="53035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93192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70432" y="3931920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07008" y="39319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Sympathie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18688" y="3931920"/>
            <a:ext cx="310896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93192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Relation, confiance, feeling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4535424"/>
            <a:ext cx="5029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53542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170432" y="4535424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07008" y="453542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Écologie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18688" y="4535424"/>
            <a:ext cx="310896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453542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DPE, éco-responsable, énergie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859536"/>
            <a:ext cx="571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SONCAS(E)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858000" y="8595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Types de Questions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858000" y="1389888"/>
            <a:ext cx="5120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58000" y="1389888"/>
            <a:ext cx="1280160" cy="62179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138988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183880" y="14173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à l'expression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183880" y="17099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puis-je vous aider ?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58000" y="2103120"/>
            <a:ext cx="5120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858000" y="2103120"/>
            <a:ext cx="1280160" cy="62179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0" y="210312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Fermée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183880" y="21305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/ NON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183880" y="2423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Avez-vous déjà visité ?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858000" y="2816352"/>
            <a:ext cx="5120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858000" y="2816352"/>
            <a:ext cx="1280160" cy="62179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0" y="281635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Approfond.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183880" y="28437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des précisions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183880" y="3136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Pouvez-vous préciser ?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858000" y="3529584"/>
            <a:ext cx="5120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858000" y="3529584"/>
            <a:ext cx="1280160" cy="62179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0" y="352958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Miroir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183880" y="35570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183880" y="38496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de travaux… ?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858000" y="4242816"/>
            <a:ext cx="5120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858000" y="4242816"/>
            <a:ext cx="1280160" cy="62179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58000" y="424281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183880" y="42702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la réponse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183880" y="4562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Aurez-vous le temps ?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40080" y="5120640"/>
            <a:ext cx="571500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777240" y="5166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DIVAS — Accueil téléphonique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77240" y="55138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Débit adapté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77240" y="56875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Intonation bienveillante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77240" y="5861304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— Volume mesuré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777240" y="6035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Articuler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77240" y="6208776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Sourire (ça s'entend !)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Entreprises &amp; Statuts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Formes juridiques • Loi Hoguet • ALUR • ELAN • Statuts conseiller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Formes Juridiques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14400"/>
            <a:ext cx="3611880" cy="5029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914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48132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6916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Illimitée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9202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Fiscalité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214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(BIC/BNC)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774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Simple mais risqué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91440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914400"/>
            <a:ext cx="36118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914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EIRL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26280" y="148132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26280" y="16916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19202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Fiscalité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21214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(opt. IS)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2377440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23774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Protège patrimoine perso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0" y="91440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914400"/>
            <a:ext cx="3611880" cy="5029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914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EURL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21040" y="148132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0" y="16916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 aux apports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19202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Fiscalité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21214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(opt. IS)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2377440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23774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SARL à 1 associé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29260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2926080"/>
            <a:ext cx="36118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29260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SASU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31520" y="34930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37033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 aux apports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" y="3931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Fiscalité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413308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(opt. IR 5 ans)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4389120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3891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Président = assimilé salarié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34840" y="29260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434840" y="2926080"/>
            <a:ext cx="361188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26280" y="29260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SARL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526280" y="34930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26280" y="37033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 aux apports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26280" y="3931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Fiscalité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26280" y="413308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(opt. IR famille)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434840" y="4389120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26280" y="43891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Gérant majoritaire = TNS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229600" y="29260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229600" y="2926080"/>
            <a:ext cx="3611880" cy="5029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21040" y="29260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SAS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8321040" y="34930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321040" y="37033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 aux apports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321040" y="3931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Fiscalité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321040" y="413308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(opt. IR)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229600" y="4389120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21040" y="43891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Grande flexibilité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40080" y="5029200"/>
            <a:ext cx="10881360" cy="438912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" y="502920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SA : capital min. 37 000 € • SCOP : salariés associés majoritaires (1 personne = 1 voix) • GIE : mutualisation entre pros, responsabilité solidaire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Lois Fondamentales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36118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14400"/>
            <a:ext cx="361188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914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LOI HOGUET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9144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49808" y="1600200"/>
            <a:ext cx="73152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57276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pro obligatoire : T, G, 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2221992"/>
            <a:ext cx="73152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19456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 ÉCRIT obligatoire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" y="2843784"/>
            <a:ext cx="73152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816352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financière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9808" y="3465576"/>
            <a:ext cx="73152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438144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 pour toute somme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" y="4087368"/>
            <a:ext cx="73152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059936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affichés TTC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4709160"/>
            <a:ext cx="73152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68172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mandats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5074920"/>
            <a:ext cx="3429000" cy="896112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20640"/>
            <a:ext cx="3337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Sans mandat conforme = ZÉRO honoraire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914400"/>
            <a:ext cx="36118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914400"/>
            <a:ext cx="36118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914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LOI ALUR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9144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544568" y="1600200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157276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Encadrement des loyers (zones tendues)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44568" y="2221992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219456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type + état des lieux standardisé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44568" y="2843784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2816352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42h de formation/3 ans obligatoires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44568" y="3465576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0872" y="3438144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Encadrement syndics + transparence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44568" y="4087368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90872" y="4059936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Rénovation énergétique renforcée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29600" y="914400"/>
            <a:ext cx="36118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29600" y="914400"/>
            <a:ext cx="36118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914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LOI ELAN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972800" y="9144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8339328" y="1600200"/>
            <a:ext cx="7315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157276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mobilité : 1 à 10 mois, sans dépôt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339328" y="2221992"/>
            <a:ext cx="7315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85632" y="219456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urbanisme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339328" y="2843784"/>
            <a:ext cx="7315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85632" y="2816352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Encadrement Airbnb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339328" y="3465576"/>
            <a:ext cx="7315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85632" y="3438144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HLM facilitée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339328" y="4087368"/>
            <a:ext cx="7315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85632" y="4059936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numérique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Statuts du Conseiller Immobilier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36118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14400"/>
            <a:ext cx="3611880" cy="6858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9326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COMMERCIAL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3533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Mandataire indépendant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9808" y="1792224"/>
            <a:ext cx="137160" cy="137160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 au RSAC (pas de contrat travail)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2295144"/>
            <a:ext cx="137160" cy="137160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Rémunération UNIQUEMENT à la commission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" y="2798064"/>
            <a:ext cx="137160" cy="137160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— cotisations indépendant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3429000" cy="274320"/>
          </a:xfrm>
          <a:prstGeom prst="rect">
            <a:avLst/>
          </a:prstGeom>
          <a:solidFill>
            <a:srgbClr val="E85D75">
              <a:alpha val="80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3375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INTERDICTIONS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657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Rédiger un compromis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0416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Encaisser des fonds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4256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Donner des conseils juridiques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914400"/>
            <a:ext cx="36118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914400"/>
            <a:ext cx="36118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4568" y="9326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SALARIÉ D'AGENCE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44568" y="13533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de travail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44568" y="1792224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sociale complète + chômage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44568" y="2295144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 + commissions ou mixte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44568" y="2798064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clientèle propre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29600" y="914400"/>
            <a:ext cx="36118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29600" y="914400"/>
            <a:ext cx="361188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9328" y="9326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39328" y="13533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Voyageur Représentant Placier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339328" y="1792224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22208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Payé à la commission (min. garanti possible)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339328" y="2295144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22208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 1 ou plusieurs employeurs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339328" y="2798064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22208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salarié avec spécificités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59893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AMANDA (ex-AMEPI) : réseau de mandats exclusifs entre agences — accélère les ventes et évite la concurrence directe entre adhérents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Prospection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• Méthodes • Techniques • Méthode SMART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Organisation &amp; Zones de Prospection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MÉTHODE SMART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02920" cy="62179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70432" y="1371600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4081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Spécifique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17007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objectif précis et défini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10312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031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70432" y="2103120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21396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4323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critères quantifiables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834640"/>
            <a:ext cx="50292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83464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170432" y="2834640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28712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Atteignable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31638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Réaliste par rapport aux moyens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502920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6616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170432" y="3566160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36027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34440" y="38953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lien avec les ressources dispo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297680"/>
            <a:ext cx="502920" cy="621792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297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170432" y="4297680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43342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34440" y="46268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deadline précise définie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914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ZONES DE SECTEUR (Îlotage)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98080" y="2267712"/>
            <a:ext cx="4023360" cy="2414016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2651760"/>
            <a:ext cx="2743200" cy="1645920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95360" y="2926080"/>
            <a:ext cx="1828800" cy="1097280"/>
          </a:xfrm>
          <a:prstGeom prst="ellipse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0" y="3200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58000" y="2011680"/>
            <a:ext cx="164592" cy="4572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86600" y="20116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PRIMAIRE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86600" y="22860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mètres — présence maximale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155680" y="2011680"/>
            <a:ext cx="822960" cy="4572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155680" y="2011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0" y="3200400"/>
            <a:ext cx="16459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6600" y="32004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SECONDAIRE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086600" y="3474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km — présence régulière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1155680" y="3200400"/>
            <a:ext cx="8229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155680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CA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58000" y="4389120"/>
            <a:ext cx="164592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86600" y="43891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TERTIAIRE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086600" y="46634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— présence ponctuelle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1155680" y="4389120"/>
            <a:ext cx="8229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155680" y="4389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CA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58000" y="5486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îlot = 2h à 3h max de prospection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" y="5212080"/>
            <a:ext cx="5852160" cy="13716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77240" y="525780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Objectifs de la prospection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7240" y="562356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Être connu et reconnu sur son secteur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77240" y="587959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Détecter des besoins, qualifier les prospects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77240" y="6135624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Rentrer des mandats et générer du CA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Méthodes &amp; Techniques de Prospection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53035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14400"/>
            <a:ext cx="5303520" cy="47548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91440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STATIQUE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144475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provoqués par la publicité (passif)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039112"/>
            <a:ext cx="128016" cy="128016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9385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agence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450592"/>
            <a:ext cx="128016" cy="128016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3500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Panneaux vendus/loués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862072"/>
            <a:ext cx="128016" cy="128016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7614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Affiches, réseaux sociaux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914400"/>
            <a:ext cx="53035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914400"/>
            <a:ext cx="5303520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91440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DYNAMIQUE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27648" y="144475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générés par l'implication du négociateur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2039112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9385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Porte-à-porte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2450592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3500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Phoning / Pige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2862072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7614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Boîtage / flyers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520440"/>
            <a:ext cx="53035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3520440"/>
            <a:ext cx="53035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352044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PROSPECTIVE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9808" y="405079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via base de données constituée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46451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5445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Anciens clients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505663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9560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propriétaires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" y="546811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3675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Notaires, banquiers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520440"/>
            <a:ext cx="53035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3520440"/>
            <a:ext cx="530352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352044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DIGITALE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327648" y="405079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obtenus via internet et réseaux sociaux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55080" y="464515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45445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Facebook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55080" y="505663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49560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546811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53675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de l'agence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6199632"/>
            <a:ext cx="1088136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6199632"/>
            <a:ext cx="10607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: 7-15€/unité — Le panneau appelle le panneau  •  Flyer boîtage : retour 1/1000, notoriété  •  Pige : appel des annonces de particuliers  •  Phoning : prospection depuis fichier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&amp; Ratios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de calcul • Taux de transformation • Coûts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Formules &amp; Ratios Clés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2194560" cy="128016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8755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583K€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1664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agence N-1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914400"/>
            <a:ext cx="219456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98755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108960" y="1664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sur l'année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914400"/>
            <a:ext cx="2194560" cy="12801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98755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8 833€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486400" y="1664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moyenne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914400"/>
            <a:ext cx="219456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0" y="98755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863840" y="1664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 / vente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149840" y="914400"/>
            <a:ext cx="2194560" cy="12801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149840" y="98755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0241280" y="1664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Acquéreurs / vente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46888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2468880"/>
            <a:ext cx="164592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25146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moyenne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6112" y="2926080"/>
            <a:ext cx="4937760" cy="512064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92608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 total  ÷  Nombre de ventes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246888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2468880"/>
            <a:ext cx="164592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25146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transfo mandat → vente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73952" y="2926080"/>
            <a:ext cx="4937760" cy="512064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292608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 ventes  ÷  Nb mandats  ×  100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370332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" y="3703320"/>
            <a:ext cx="164592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37490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transfo estimation → mandat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96112" y="4160520"/>
            <a:ext cx="4937760" cy="512064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416052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 mandats  ÷  Nb estimations  ×  100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370332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3703320"/>
            <a:ext cx="164592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37490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acquisition d'un mandat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73952" y="4160520"/>
            <a:ext cx="4937760" cy="512064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416052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Coût prospection  ÷  Nb mandats rentré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" y="493776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" y="4937760"/>
            <a:ext cx="164592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" y="49834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Net Vendeur (HFA) depuis FAI 6,5%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96112" y="5394960"/>
            <a:ext cx="4937760" cy="512064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7552" y="539496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 FAI  ÷  1,065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17920" y="493776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17920" y="4937760"/>
            <a:ext cx="164592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49834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HT depuis TTC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73952" y="5394960"/>
            <a:ext cx="4937760" cy="512064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65392" y="539496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 TTC  ÷  1,20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0080" y="6217920"/>
            <a:ext cx="10881360" cy="438912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621792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Objectif conseiller : identifier combien de ventes/mandats/estimations sont nécessaires pour atteindre le salaire visé (calcul en cascade)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Diagnostics Immobiliers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DDT • DPE • ERP • Plomb • Gaz • Amiante • Termites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Diagnostics Obligatoires — Tableau Complet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2011680" cy="3657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914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914400"/>
            <a:ext cx="3657600" cy="3657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0632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914400"/>
            <a:ext cx="3017520" cy="3657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914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VALIDITÉ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1325880"/>
            <a:ext cx="8778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389888"/>
            <a:ext cx="128016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325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1325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biens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325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1828800"/>
            <a:ext cx="877824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1892808"/>
            <a:ext cx="128016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biens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2331720"/>
            <a:ext cx="8778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395728"/>
            <a:ext cx="128016" cy="32004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Plomb (CREP)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97480" y="2331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1949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331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Illimitée si négatif / 1 an si positif (vente)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2834640"/>
            <a:ext cx="877824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2898648"/>
            <a:ext cx="128016" cy="3200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Amiante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9748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avant 1/7/1997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Illimitée si négatif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337560"/>
            <a:ext cx="8778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3401568"/>
            <a:ext cx="128016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97480" y="3337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Install. &gt; 15 ans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ans (vente) / 6 ans (loc)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3840480"/>
            <a:ext cx="877824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3904488"/>
            <a:ext cx="128016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Électricité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97480" y="3840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Install. &gt; 15 ans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ans (vente) / 6 ans (loc)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4343400"/>
            <a:ext cx="8778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4407408"/>
            <a:ext cx="128016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Termites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697480" y="4343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arrêté préfect.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0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" y="4846320"/>
            <a:ext cx="877824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" y="4910328"/>
            <a:ext cx="128016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4846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Assainissement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697480" y="4846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raccordé tout-à-l'égout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00800" y="4846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5349240"/>
            <a:ext cx="8778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" y="5413248"/>
            <a:ext cx="128016" cy="3200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" y="5349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697480" y="5349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aéroportuaires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00800" y="5349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Illimitée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646920" y="914400"/>
            <a:ext cx="2377440" cy="5486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73836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RETENIR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738360" y="1444752"/>
            <a:ext cx="2103120" cy="7132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784080" y="144475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DPE + ERP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TOUJOURS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738360" y="2249424"/>
            <a:ext cx="2103120" cy="7132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84080" y="224942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Plomb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avant 1949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738360" y="3054096"/>
            <a:ext cx="2103120" cy="7132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84080" y="305409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Amiante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avant 1997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738360" y="3858768"/>
            <a:ext cx="2103120" cy="7132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84080" y="385876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/ Élec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 &gt; 15 ans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738360" y="4663440"/>
            <a:ext cx="2103120" cy="7132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784080" y="46634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DDT = dossier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diags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Estimation &amp; Avis de Valeur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• Méthodes d'estimation • Découverte vendeur • Pondération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Méthodes d'Estimation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14400"/>
            <a:ext cx="3611880" cy="43891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9144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COMPARAISON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ventes récentes de biens similaires. Réduction au m². La + utilisée (fisc + juridictions).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542032"/>
            <a:ext cx="3465576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5420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 m² moyen × Surface du bien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91440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914400"/>
            <a:ext cx="36118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9144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CAPITALISATION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141732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basée sur les revenus locatifs. Côté investisseur. Plus le taux est bas, plus le prix est élevé.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07992" y="2542032"/>
            <a:ext cx="3465576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25420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Loyer annuel ÷ Taux de capitalisation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9600" y="91440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914400"/>
            <a:ext cx="361188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9144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+ CONSTRUCTION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141732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 séparément le terrain et le bâti. Méthode privilégiée pour les maisons et immeubles.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02752" y="2542032"/>
            <a:ext cx="3465576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25420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Valeur sol + Valeur bâti (- vétusté)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333756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337560"/>
            <a:ext cx="361188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33756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INDICIAIRE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384048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Basée sur le prix d'achat actualisé avec un coefficient d'érosion monétaire.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232" y="4965192"/>
            <a:ext cx="3465576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9651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 achat × Coefficient érosion monétaire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34840" y="333756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34840" y="3337560"/>
            <a:ext cx="3611880" cy="438912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333756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LES COÛTS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26280" y="384048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reconstruction à l'identique. Adaptée aux cas spécifiques (assurances, copropriétés).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07992" y="4965192"/>
            <a:ext cx="3465576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44568" y="49651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Foncier + Bâti + Équipements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29600" y="333756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29600" y="3337560"/>
            <a:ext cx="3611880" cy="43891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333756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À REBOURS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21040" y="384048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du prix de vente possible. Utilisée par les promoteurs / lotisseurs.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02752" y="4965192"/>
            <a:ext cx="3465576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9328" y="49651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 vente - marge - travaux - frais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Préparation R1 &amp; Découverte Vendeur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AVANT LE R1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03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4173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4173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le RDV + pré-découverte (Qui / Quoi / Pourquoi / Quand / Où)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5303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5146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5146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: titre de propriété, taxe foncière, charges de copropriété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5303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6118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6118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les ventes récentes sur le secteur (DVF, Google Maps, Street View)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5303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7091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🏘️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47091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la concurrence — biens similaires actuellement en vente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914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DÉCOUVERTE VENDEUR (3 Temps)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1371600"/>
            <a:ext cx="5394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1371600"/>
            <a:ext cx="1371600" cy="135331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371600"/>
            <a:ext cx="1371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 PASSÉ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01000" y="142646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Comment a-t-il acheté le bien 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01000" y="18105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Via agence ou particulier 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01000" y="21945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A-t-il fait une offre à la baisse 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0" y="2852928"/>
            <a:ext cx="5394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0" y="2852928"/>
            <a:ext cx="1371600" cy="13533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2852928"/>
            <a:ext cx="1371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 PRÉSENT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01000" y="290779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Qui vend ? (tous propriétaires)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01000" y="32918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Raison de la vente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01000" y="36758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Situation actuelle du bien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83680" y="4334256"/>
            <a:ext cx="5394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0" y="4334256"/>
            <a:ext cx="1371600" cy="13533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334256"/>
            <a:ext cx="1371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 FUTUR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01000" y="43891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Délai souhaité de vente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001000" y="47731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Date limite d'encaissement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001000" y="515721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Réemploi des fonds prévus ?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" y="5943600"/>
            <a:ext cx="10881360" cy="438912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94360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Bonne découverte vendeur = meilleur argumentaire + traitement des objections facilité au R2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5120640"/>
            <a:ext cx="530352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166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Grille de pondération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544982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Ascenseur +1/2% • Espaces verts +5% • RDC jusqu'à -30% • Pas espaces verts -5% • Pas ascenseur -8%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6bis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Viager &amp; Démembrement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Crédirentier • Débirentier • Bouquet • Rente viagère • Usufruit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6bis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Viager — Principes &amp; Calcul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14400"/>
            <a:ext cx="1828800" cy="8686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9144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CRÉDIRENTIER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78608" y="91440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VENDEUR — reçoit la rente viagère jusqu'à son décès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91440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914400"/>
            <a:ext cx="1828800" cy="8686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9144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DÉBIRENTIER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56448" y="91440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L'ACHETEUR — verse la rente et le bouquet initial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192024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1920240"/>
            <a:ext cx="1828800" cy="8686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192024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BOUQUET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78608" y="19202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versée COMPTANT lors de la vente (≈20-30% valeur)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920240"/>
            <a:ext cx="18288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92024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 VIAGÈRE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56448" y="19202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Versement périodique jusqu'au décès du crédirentier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2103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2 TYPES DE VIAGER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2542032"/>
            <a:ext cx="5303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2542032"/>
            <a:ext cx="5303520" cy="47548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2542032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VIAGER OCCUPÉ  (~95% des cas)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" y="307238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vendeur reste dans le bien (droit d'usage).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est réduite d'un abattement d'occupation (20 à 40%).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" y="3840480"/>
            <a:ext cx="507492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8404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Plus accessible pour l'acheteur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542032"/>
            <a:ext cx="5303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542032"/>
            <a:ext cx="53035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2542032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VIAGER LIBRE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27648" y="307238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bien est immédiatement disponible pour l'acheteur.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d'abattement — valeur pleine du bien.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27648" y="3840480"/>
            <a:ext cx="507492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38404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Plus coûteux pour l'acheteur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4754880"/>
            <a:ext cx="5303520" cy="45720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754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Rente = (Valeur nue-propriété − Bouquet) ÷ Coeff. barème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4754880"/>
            <a:ext cx="5303520" cy="45720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4754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Valeur usufruit = Valeur vénale × % barème fiscal (âge)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5486400"/>
            <a:ext cx="10881360" cy="438912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48640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L'aléa est l'essence du viager : si le vendeur vit longtemps → avantage vendeur. Décès précoce → avantage acheteur.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6bis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Démembrement de Propriété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PLEINE PROPRIÉTÉ = USUFRUIT + NUE-PROPRIÉTÉ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53035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11680"/>
            <a:ext cx="5303520" cy="5029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0116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USUFRUIT (Usus + Fructus)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6060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Détenteur : l'USUFRUITIER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9718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Droit d'UTILISER le bien (usus)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4672" y="341071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Droit d'en PERCEVOIR les revenus / loyers (fructus)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384962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 peut pas le vendre sans accord du nu-propriétaire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" y="428853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Doit entretenir le bien (charges courantes)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0" y="2011680"/>
            <a:ext cx="53035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011680"/>
            <a:ext cx="53035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20116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NUE-PROPRIÉTÉ (Abusus)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0528" y="26060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Détenteur : le NU-PROPRIÉTAIRE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971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Droit de DISPOSER du bien (vendre, donner)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34107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 peut pas l'utiliser sans accord de l'usufruitier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37960" y="384962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Récupère la pleine propriété à l'extinction de l'usufruit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7960" y="4288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Gros travaux à sa charge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881360" cy="1417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" y="512064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AVANTAGES FISCAUX DU DÉMEMBREMENT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54864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Réduction de l'IFI (Impôt sur la Fortune Immobilière)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91072" y="54864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Optimisation des droits de succession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" y="58064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Baisse de l'impôt sur le revenu foncier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91072" y="58064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Transmission anticipée du patrimoine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Mandats &amp; Dossier Mandat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Hoguet • Mentions obligatoires • Types • Registre • Documents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de Mandats &amp; Mentions Obligatoires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DE MANDATS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353312"/>
            <a:ext cx="6492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53312"/>
            <a:ext cx="1828800" cy="10058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5331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23744" y="139903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agences possibles. Pas de monopole.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23744" y="2066544"/>
            <a:ext cx="4480560" cy="25603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206654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Irrévocabilité : Aucune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496312"/>
            <a:ext cx="6492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496312"/>
            <a:ext cx="1828800" cy="10058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49631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23744" y="254203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mandataire. Résiliation après 3 mois (préavis 15j). Clause pénale possible.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23744" y="3209544"/>
            <a:ext cx="4480560" cy="25603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5184" y="320954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Irrévocabilité : 3 mois min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639312"/>
            <a:ext cx="6492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639312"/>
            <a:ext cx="18288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63931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SEMI-EXCLUSIF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23744" y="368503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Exclusivité + le propriétaire peut vendre en direct.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23744" y="4352544"/>
            <a:ext cx="4480560" cy="25603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15184" y="435254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Irrévocabilité : 3 mois min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782312"/>
            <a:ext cx="6492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782312"/>
            <a:ext cx="18288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8231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RECHERCHE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482803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 avec un ACQUÉREUR — précise zone, type de bien, budget.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23744" y="5495544"/>
            <a:ext cx="4480560" cy="25603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15184" y="549554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Irrévocabilité : Variable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0664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MENTIONS OBLIGATOIRES (Loi Hoguet)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06640" y="1371600"/>
            <a:ext cx="292608" cy="4114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137160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54112" y="1371600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mandant + mandataire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06640" y="1874520"/>
            <a:ext cx="292608" cy="4114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187452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54112" y="1874520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carte professionnelle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406640" y="2377440"/>
            <a:ext cx="292608" cy="4114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23774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54112" y="2377440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 + Garantie financière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406640" y="2880360"/>
            <a:ext cx="292608" cy="4114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288036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54112" y="2880360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Désignation précise du bien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406640" y="3383280"/>
            <a:ext cx="292608" cy="4114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338328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54112" y="3383280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vente TTC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406640" y="3886200"/>
            <a:ext cx="292608" cy="4114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06640" y="388620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54112" y="3886200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+ modalités de résiliation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406640" y="4389120"/>
            <a:ext cx="292608" cy="4114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06640" y="438912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754112" y="4389120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et répartition des honoraires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406640" y="4892040"/>
            <a:ext cx="292608" cy="4114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06640" y="4892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754112" y="4892040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au registre des mandats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406640" y="5394960"/>
            <a:ext cx="292608" cy="4114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06640" y="539496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754112" y="5394960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Moyens de diffusion utilisés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0080" y="6144768"/>
            <a:ext cx="10881360" cy="438912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6144768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🚨  RÈGLE : 1 mention manquante = nullité du mandat = ZÉRO honoraire (même si la vente a eu lieu)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Dossier Mandat &amp; Registre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5303520" cy="23774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9601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REGISTRE DES MANDATS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Obligatoire (papier ou électronique)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17647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Unique par agence sauf T et G = 2 registres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21122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Numérotation chronologique sans blanc ni rature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4597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Chaque mandat inscrit avec toutes ses caractéristiques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4672" y="2807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Délégation de mandat = doit y être inscrite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DOCUMENTS VENDEUR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" y="3950208"/>
            <a:ext cx="128016" cy="128016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404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CNI, livret de famille, contrat de mariage / PACS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4425696"/>
            <a:ext cx="128016" cy="128016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159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de propriété (date, prix achat, financement)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3232" y="4901184"/>
            <a:ext cx="128016" cy="128016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9145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 avis de taxe foncière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" y="5376672"/>
            <a:ext cx="128016" cy="128016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26694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travaux / devis si rénovation récente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BIEN EN COPROPRIÉTÉ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73952" y="14447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3258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d'assemblées générales (3 dernières années)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73952" y="192024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180136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Relevés de charges (2 dernières années)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73952" y="23957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227685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 de copropriété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73952" y="287121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275234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descriptif de division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73952" y="334670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56832" y="322783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d'entretien de l'immeuble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73952" y="382219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3703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d'immatriculation + fiche synthétique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73952" y="429768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417880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du cadastre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PLEINE PROPRIÉTÉ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73952" y="528523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51663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 de construire (si travaux &gt; 20m²)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73952" y="576072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56832" y="564184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préalable + certificat conformité (si &lt; 10 ans)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73952" y="623620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56832" y="611733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du cadastre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" y="6108192"/>
            <a:ext cx="10881360" cy="438912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6108192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Loi Hamon : DIP (Document Information Précontractuelle) obligatoire + droit de rétractation 14 jours pour les mandats signés hors établissement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Financement Immobilier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simples vs composés • Taux proportionnel vs équivalent • Mensualité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Intérêts Simples vs Intérêts Composés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53035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14400"/>
            <a:ext cx="5303520" cy="5486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9144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INTÉRÊTS SIMPLES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1536192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intérêts sont calculés uniquement sur le capital de départ. Progression LINÉAIRE.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2176272"/>
            <a:ext cx="5074920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1762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C × t × 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9808" y="2816352"/>
            <a:ext cx="502920" cy="38404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8163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8163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obtenus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3255264"/>
            <a:ext cx="502920" cy="38404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2552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2552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initial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" y="3694176"/>
            <a:ext cx="502920" cy="38404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69417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69417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(en décimal)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" y="4133088"/>
            <a:ext cx="502920" cy="38404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1330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41330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en années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" y="4663440"/>
            <a:ext cx="507492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09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49834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1 000 € à 5% pendant 2 ans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8680" y="523951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1 000 × 0,05 × 2 = 100 €  (50 €/an)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914400"/>
            <a:ext cx="53035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914400"/>
            <a:ext cx="53035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9144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INTÉRÊTS COMPOSÉS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10528" y="1536192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intérêts sont réinvestis et produisent eux-mêmes des intérêts. Progression EXPONENTIELLE.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10528" y="2176272"/>
            <a:ext cx="5074920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21762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 = C₀ × (1 + t)ⁿ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10528" y="2816352"/>
            <a:ext cx="502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28163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86600" y="28163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final obtenu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10528" y="3255264"/>
            <a:ext cx="502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32552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C₀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86600" y="32552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initial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10528" y="3694176"/>
            <a:ext cx="502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0528" y="369417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86600" y="369417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(en décimal)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10528" y="4133088"/>
            <a:ext cx="502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41330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86600" y="41330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périodes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10528" y="4663440"/>
            <a:ext cx="507492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4709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29400" y="49834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1 000 € à 5% pendant 2 ans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629400" y="523951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C₂ = 1 000 × (1,05)² = 1 102,50 €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MOD.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Taux Périodiques &amp; Mensualité de Prêt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TAUX PROPORTIONNEL vs ÉQUIVALENT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201168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371600"/>
            <a:ext cx="164592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périodes/an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70832" y="1371600"/>
            <a:ext cx="320040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PROPORTIONNEL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07808" y="1371600"/>
            <a:ext cx="320040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ÉQUIVALENT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810512"/>
            <a:ext cx="1016812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18105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70632" y="18105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43984" y="18105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0" y="18105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313432"/>
            <a:ext cx="10168128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2313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Semestriel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70632" y="23134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43984" y="23134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÷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0" y="23134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(1+t)^(1/2) − 1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2816352"/>
            <a:ext cx="1016812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2816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Trimestriel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70632" y="28163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43984" y="28163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÷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0" y="28163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(1+t)^(1/4) − 1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3319272"/>
            <a:ext cx="10168128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33192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Bimensuel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70632" y="33192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43984" y="33192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÷ 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80960" y="33192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(1+t)^(1/6) − 1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3822192"/>
            <a:ext cx="1016812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38221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70632" y="38221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43984" y="38221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÷ 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80960" y="38221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(1+t)^(1/12) − 1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4462272"/>
            <a:ext cx="10168128" cy="384048"/>
          </a:xfrm>
          <a:prstGeom prst="rect">
            <a:avLst/>
          </a:prstGeom>
          <a:solidFill>
            <a:srgbClr val="E85D75">
              <a:alpha val="80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4462272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PIÈGE BTS : Le taux équivalent est TOUJOURS légèrement inférieur au taux proportionnel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" y="498348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FORMULE DE LA MENSUALITÉ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" y="5394960"/>
            <a:ext cx="10168128" cy="566928"/>
          </a:xfrm>
          <a:prstGeom prst="rect">
            <a:avLst/>
          </a:prstGeom>
          <a:solidFill>
            <a:srgbClr val="00C9A7">
              <a:alpha val="9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39496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 =  C × tₘ  ÷  [ 1 − (1 + tₘ)^(−n) ]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40080" y="6035040"/>
            <a:ext cx="45720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60350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70432" y="603504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Mensualité (€)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760720" y="6035040"/>
            <a:ext cx="45720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0720" y="60350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91072" y="603504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emprunté (€)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0080" y="6419088"/>
            <a:ext cx="45720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64190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tₘ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70432" y="641908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mensuel (t/12 pour proportionnel)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760720" y="6419088"/>
            <a:ext cx="45720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60720" y="64190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291072" y="641908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en mois (ex: 20 ans = 240 mois)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Synthèse &amp; Règles d'or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10 règles essentielles pour réussir le BTS PI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RÈGLES D'OR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5486400" cy="914400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E85D75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14400"/>
            <a:ext cx="548640" cy="91440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61872" y="9601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mandat écrit = ZÉRO honoraire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61872" y="13898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Hoguet — aucune exception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914400"/>
            <a:ext cx="5486400" cy="914400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914400"/>
            <a:ext cx="54864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91440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76872" y="9601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DPE + ERP = TOUJOURS obligatoires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76872" y="13898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autres dépendent du bien (date, zone, install.)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5486400" cy="914400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1965960"/>
            <a:ext cx="54864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9659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61872" y="20116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4×20 : préparez votre 1ère impression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1872" y="24414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sec, 20 gestes, 20 mots, 20 cm du visage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1965960"/>
            <a:ext cx="5486400" cy="914400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1965960"/>
            <a:ext cx="54864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9659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76872" y="20116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 exclusif = irrévocable 3 mois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76872" y="24414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Résiliation possible après 3 mois (préavis 15 jours)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017520"/>
            <a:ext cx="5486400" cy="914400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017520"/>
            <a:ext cx="54864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017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61872" y="30632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par comparaison = référence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61872" y="34930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par les services fiscaux et les juridictions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3017520"/>
            <a:ext cx="5486400" cy="914400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E85D75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017520"/>
            <a:ext cx="548640" cy="91440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017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76872" y="30632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équivalent &lt; Taux proportionnel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76872" y="34930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équivalent tient compte de la capitalisation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069080"/>
            <a:ext cx="5486400" cy="914400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4069080"/>
            <a:ext cx="54864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0690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261872" y="41148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mandats = chronologique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61872" y="45445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blanc ni rature — support papier ou électronique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4069080"/>
            <a:ext cx="5486400" cy="914400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4069080"/>
            <a:ext cx="54864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40690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976872" y="41148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SONCAS : identifier le mobile dominant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76872" y="45445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son argumentaire au profil du client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5120640"/>
            <a:ext cx="5486400" cy="914400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5120640"/>
            <a:ext cx="54864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1206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261872" y="51663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primaire = 80% du CA potentiel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61872" y="55961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là que se concentre l'effort de prospection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5120640"/>
            <a:ext cx="5486400" cy="914400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E85D75">
                <a:alpha val="7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55080" y="5120640"/>
            <a:ext cx="548640" cy="91440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51206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6976872" y="51663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d'endettement max : 35%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76872" y="55961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HCSF — des revenus nets mensuels du ménage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6291072"/>
            <a:ext cx="11247120" cy="457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62910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Lenny AGAMAKOU  •  BTS PI INSEEC 2025-2026  •  Fiches de révision — Modules 1 à 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2026-05-14T15:04:59Z</dcterms:created>
  <dcterms:modified xsi:type="dcterms:W3CDTF">2026-05-14T15:04:59Z</dcterms:modified>
</cp:coreProperties>
</file>